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686800" y="-1828800"/>
            <a:ext cx="5486400" cy="5486400"/>
          </a:xfrm>
          <a:prstGeom prst="ellipse">
            <a:avLst/>
          </a:prstGeom>
          <a:solidFill>
            <a:srgbClr val="4A35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601200" y="3200400"/>
            <a:ext cx="3657600" cy="3657600"/>
          </a:xfrm>
          <a:prstGeom prst="ellipse">
            <a:avLst/>
          </a:prstGeom>
          <a:solidFill>
            <a:srgbClr val="553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37160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340"/>
              </a:lnSpc>
              <a:spcAft>
                <a:spcPts val="200"/>
              </a:spcAft>
              <a:defRPr sz="1800" b="1">
                <a:solidFill>
                  <a:srgbClr val="FF6B35"/>
                </a:solidFill>
                <a:latin typeface="Microsoft YaHei"/>
              </a:defRPr>
            </a:pPr>
            <a:r>
              <a:t>课程设计汇报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011680"/>
            <a:ext cx="9144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940"/>
              </a:lnSpc>
              <a:spcAft>
                <a:spcPts val="200"/>
              </a:spcAft>
              <a:defRPr sz="3800" b="1">
                <a:solidFill>
                  <a:srgbClr val="FFFFFF"/>
                </a:solidFill>
                <a:latin typeface="Microsoft YaHei"/>
              </a:defRPr>
            </a:pPr>
            <a:r>
              <a:t>基于 Vue + Spring Boot + MySQL 的</a:t>
            </a:r>
            <a:br/>
            <a:r>
              <a:t>菜谱分享与管理系统</a:t>
            </a:r>
          </a:p>
        </p:txBody>
      </p:sp>
      <p:sp>
        <p:nvSpPr>
          <p:cNvPr id="8" name="Rectangle 7"/>
          <p:cNvSpPr/>
          <p:nvPr/>
        </p:nvSpPr>
        <p:spPr>
          <a:xfrm>
            <a:off x="1097280" y="3474720"/>
            <a:ext cx="2286000" cy="36576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3749039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80"/>
              </a:lnSpc>
              <a:spcAft>
                <a:spcPts val="200"/>
              </a:spcAft>
              <a:defRPr sz="1600" b="0">
                <a:solidFill>
                  <a:srgbClr val="999999"/>
                </a:solidFill>
                <a:latin typeface="Microsoft YaHei"/>
              </a:defRPr>
            </a:pPr>
            <a:r>
              <a:t>食光菜谱系统 · 分享美味 · 记录生活 · 连接美食社区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5029200"/>
            <a:ext cx="5486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60"/>
              </a:lnSpc>
              <a:spcAft>
                <a:spcPts val="200"/>
              </a:spcAft>
              <a:defRPr sz="1200" b="0">
                <a:solidFill>
                  <a:srgbClr val="999999"/>
                </a:solidFill>
                <a:latin typeface="Microsoft YaHei"/>
              </a:defRPr>
            </a:pPr>
            <a:r>
              <a:t>姓名：XXX        课程：XXX        班级：XXX</a:t>
            </a:r>
            <a:br/>
            <a:r>
              <a:t>日期：2026 年 6 月 1 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40"/>
              </a:lnSpc>
              <a:spcAft>
                <a:spcPts val="200"/>
              </a:spcAft>
              <a:defRPr sz="800" b="0">
                <a:solidFill>
                  <a:srgbClr val="999999"/>
                </a:solidFill>
                <a:latin typeface="Microsoft YaHei"/>
              </a:defRPr>
            </a:pPr>
            <a:r>
              <a:t>1/27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640"/>
              </a:lnSpc>
              <a:spcAft>
                <a:spcPts val="200"/>
              </a:spcAft>
              <a:defRPr sz="2800" b="1">
                <a:solidFill>
                  <a:srgbClr val="2D2D2D"/>
                </a:solidFill>
                <a:latin typeface="Microsoft YaHei"/>
              </a:defRPr>
            </a:pPr>
            <a:r>
              <a:t>汇报目录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200"/>
              </a:spcAft>
              <a:defRPr sz="1200" b="0">
                <a:solidFill>
                  <a:srgbClr val="999999"/>
                </a:solidFill>
                <a:latin typeface="Microsoft YaHei"/>
              </a:defRPr>
            </a:pPr>
            <a:r>
              <a:t>CONTENTS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2400" b="1">
                <a:solidFill>
                  <a:srgbClr val="FF6B35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1417320"/>
            <a:ext cx="27432" cy="32004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45920" y="13716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600" b="1">
                <a:solidFill>
                  <a:srgbClr val="2D2D2D"/>
                </a:solidFill>
                <a:latin typeface="Microsoft YaHei"/>
              </a:defRPr>
            </a:pPr>
            <a:r>
              <a:t>项目背景与需求分析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1691640"/>
            <a:ext cx="7315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00"/>
              </a:lnSpc>
              <a:spcAft>
                <a:spcPts val="200"/>
              </a:spcAft>
              <a:defRPr sz="1000" b="0">
                <a:solidFill>
                  <a:srgbClr val="666666"/>
                </a:solidFill>
                <a:latin typeface="Microsoft YaHei"/>
              </a:defRPr>
            </a:pPr>
            <a:r>
              <a:t>说明项目来源、用户角色、功能与非功能需求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029967"/>
            <a:ext cx="10515600" cy="4572"/>
          </a:xfrm>
          <a:prstGeom prst="rect">
            <a:avLst/>
          </a:prstGeom>
          <a:solidFill>
            <a:srgbClr val="E8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084832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2400" b="1">
                <a:solidFill>
                  <a:srgbClr val="FF6B35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71600" y="2130552"/>
            <a:ext cx="27432" cy="32004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45920" y="208483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600" b="1">
                <a:solidFill>
                  <a:srgbClr val="2D2D2D"/>
                </a:solidFill>
                <a:latin typeface="Microsoft YaHei"/>
              </a:defRPr>
            </a:pPr>
            <a:r>
              <a:t>系统总体设计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2404872"/>
            <a:ext cx="7315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00"/>
              </a:lnSpc>
              <a:spcAft>
                <a:spcPts val="200"/>
              </a:spcAft>
              <a:defRPr sz="1000" b="0">
                <a:solidFill>
                  <a:srgbClr val="666666"/>
                </a:solidFill>
                <a:latin typeface="Microsoft YaHei"/>
              </a:defRPr>
            </a:pPr>
            <a:r>
              <a:t>技术架构、数据流图、功能模块划分与前端路由设计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2743200"/>
            <a:ext cx="10515600" cy="4572"/>
          </a:xfrm>
          <a:prstGeom prst="rect">
            <a:avLst/>
          </a:prstGeom>
          <a:solidFill>
            <a:srgbClr val="E8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2798064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2400" b="1">
                <a:solidFill>
                  <a:srgbClr val="FF6B35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371600" y="2843784"/>
            <a:ext cx="27432" cy="32004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645920" y="2798064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600" b="1">
                <a:solidFill>
                  <a:srgbClr val="2D2D2D"/>
                </a:solidFill>
                <a:latin typeface="Microsoft YaHei"/>
              </a:defRPr>
            </a:pPr>
            <a:r>
              <a:t>数据库设计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20" y="3118104"/>
            <a:ext cx="7315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00"/>
              </a:lnSpc>
              <a:spcAft>
                <a:spcPts val="200"/>
              </a:spcAft>
              <a:defRPr sz="1000" b="0">
                <a:solidFill>
                  <a:srgbClr val="666666"/>
                </a:solidFill>
                <a:latin typeface="Microsoft YaHei"/>
              </a:defRPr>
            </a:pPr>
            <a:r>
              <a:t>E-R 图、关系模式与核心数据表结构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3456432"/>
            <a:ext cx="10515600" cy="4572"/>
          </a:xfrm>
          <a:prstGeom prst="rect">
            <a:avLst/>
          </a:prstGeom>
          <a:solidFill>
            <a:srgbClr val="E8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3511296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2400" b="1">
                <a:solidFill>
                  <a:srgbClr val="FF6B35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371600" y="3557015"/>
            <a:ext cx="27432" cy="32004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645920" y="3511296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600" b="1">
                <a:solidFill>
                  <a:srgbClr val="2D2D2D"/>
                </a:solidFill>
                <a:latin typeface="Microsoft YaHei"/>
              </a:defRPr>
            </a:pPr>
            <a:r>
              <a:t>系统详细设计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45920" y="3831335"/>
            <a:ext cx="7315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00"/>
              </a:lnSpc>
              <a:spcAft>
                <a:spcPts val="200"/>
              </a:spcAft>
              <a:defRPr sz="1000" b="0">
                <a:solidFill>
                  <a:srgbClr val="666666"/>
                </a:solidFill>
                <a:latin typeface="Microsoft YaHei"/>
              </a:defRPr>
            </a:pPr>
            <a:r>
              <a:t>核心业务流程、登录认证、冰箱寻菜与 API 接口设计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4169663"/>
            <a:ext cx="10515600" cy="4572"/>
          </a:xfrm>
          <a:prstGeom prst="rect">
            <a:avLst/>
          </a:prstGeom>
          <a:solidFill>
            <a:srgbClr val="E8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4224528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2400" b="1">
                <a:solidFill>
                  <a:srgbClr val="FF6B35"/>
                </a:solidFill>
                <a:latin typeface="Microsoft YaHei"/>
              </a:defRPr>
            </a:pPr>
            <a:r>
              <a:t>05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371600" y="4270248"/>
            <a:ext cx="27432" cy="32004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45920" y="422452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600" b="1">
                <a:solidFill>
                  <a:srgbClr val="2D2D2D"/>
                </a:solidFill>
                <a:latin typeface="Microsoft YaHei"/>
              </a:defRPr>
            </a:pPr>
            <a:r>
              <a:t>系统实现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45920" y="4544568"/>
            <a:ext cx="7315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00"/>
              </a:lnSpc>
              <a:spcAft>
                <a:spcPts val="200"/>
              </a:spcAft>
              <a:defRPr sz="1000" b="0">
                <a:solidFill>
                  <a:srgbClr val="666666"/>
                </a:solidFill>
                <a:latin typeface="Microsoft YaHei"/>
              </a:defRPr>
            </a:pPr>
            <a:r>
              <a:t>用户端、管理员端、后端实现要点与界面展示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1520" y="4882896"/>
            <a:ext cx="10515600" cy="4572"/>
          </a:xfrm>
          <a:prstGeom prst="rect">
            <a:avLst/>
          </a:prstGeom>
          <a:solidFill>
            <a:srgbClr val="E8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" y="493776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2400" b="1">
                <a:solidFill>
                  <a:srgbClr val="FF6B35"/>
                </a:solidFill>
                <a:latin typeface="Microsoft YaHei"/>
              </a:defRPr>
            </a:pPr>
            <a:r>
              <a:t>06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371600" y="4983480"/>
            <a:ext cx="27432" cy="32004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645920" y="49377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600" b="1">
                <a:solidFill>
                  <a:srgbClr val="2D2D2D"/>
                </a:solidFill>
                <a:latin typeface="Microsoft YaHei"/>
              </a:defRPr>
            </a:pPr>
            <a:r>
              <a:t>系统测试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45920" y="5257800"/>
            <a:ext cx="7315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00"/>
              </a:lnSpc>
              <a:spcAft>
                <a:spcPts val="200"/>
              </a:spcAft>
              <a:defRPr sz="1000" b="0">
                <a:solidFill>
                  <a:srgbClr val="666666"/>
                </a:solidFill>
                <a:latin typeface="Microsoft YaHei"/>
              </a:defRPr>
            </a:pPr>
            <a:r>
              <a:t>测试环境、测试策略与功能测试结果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31520" y="5596128"/>
            <a:ext cx="10515600" cy="4572"/>
          </a:xfrm>
          <a:prstGeom prst="rect">
            <a:avLst/>
          </a:prstGeom>
          <a:solidFill>
            <a:srgbClr val="E8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" y="5650992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2400" b="1">
                <a:solidFill>
                  <a:srgbClr val="FF6B35"/>
                </a:solidFill>
                <a:latin typeface="Microsoft YaHei"/>
              </a:defRPr>
            </a:pPr>
            <a:r>
              <a:t/>
            </a:r>
          </a:p>
        </p:txBody>
      </p:sp>
      <p:sp>
        <p:nvSpPr>
          <p:cNvPr id="36" name="Rectangle 35"/>
          <p:cNvSpPr/>
          <p:nvPr/>
        </p:nvSpPr>
        <p:spPr>
          <a:xfrm>
            <a:off x="1371600" y="5696712"/>
            <a:ext cx="27432" cy="32004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645920" y="565099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1600" b="1">
                <a:solidFill>
                  <a:srgbClr val="2D2D2D"/>
                </a:solidFill>
                <a:latin typeface="Microsoft YaHei"/>
              </a:defRPr>
            </a:pPr>
            <a:r>
              <a:t/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45920" y="5971031"/>
            <a:ext cx="7315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00"/>
              </a:lnSpc>
              <a:spcAft>
                <a:spcPts val="200"/>
              </a:spcAft>
              <a:defRPr sz="1000" b="0">
                <a:solidFill>
                  <a:srgbClr val="666666"/>
                </a:solidFill>
                <a:latin typeface="Microsoft YaHei"/>
              </a:defRPr>
            </a:pPr>
            <a:r>
              <a:t/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40"/>
              </a:lnSpc>
              <a:spcAft>
                <a:spcPts val="200"/>
              </a:spcAft>
              <a:defRPr sz="800" b="0">
                <a:solidFill>
                  <a:srgbClr val="999999"/>
                </a:solidFill>
                <a:latin typeface="Microsoft YaHei"/>
              </a:defRPr>
            </a:pPr>
            <a:r>
              <a:t>2/27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2286000"/>
            <a:ext cx="73152" cy="1645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28600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5460"/>
              </a:lnSpc>
              <a:spcAft>
                <a:spcPts val="200"/>
              </a:spcAft>
              <a:defRPr sz="4200" b="1">
                <a:solidFill>
                  <a:srgbClr val="FF6B35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88036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160"/>
              </a:lnSpc>
              <a:spcAft>
                <a:spcPts val="200"/>
              </a:spcAft>
              <a:defRPr sz="3200" b="1">
                <a:solidFill>
                  <a:srgbClr val="FFFFFF"/>
                </a:solidFill>
                <a:latin typeface="Microsoft YaHei"/>
              </a:defRPr>
            </a:pPr>
            <a:r>
              <a:t>项目背景与需求分析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6118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20"/>
              </a:lnSpc>
              <a:spcAft>
                <a:spcPts val="200"/>
              </a:spcAft>
              <a:defRPr sz="1400" b="0">
                <a:solidFill>
                  <a:srgbClr val="999999"/>
                </a:solidFill>
                <a:latin typeface="Microsoft YaHei"/>
              </a:defRPr>
            </a:pPr>
            <a:r>
              <a:t>说明项目来源、用户角色、功能需求和非功能需求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5029200"/>
            <a:ext cx="9601200" cy="13716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212080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170"/>
              </a:lnSpc>
              <a:spcAft>
                <a:spcPts val="200"/>
              </a:spcAft>
              <a:defRPr sz="900" b="0">
                <a:solidFill>
                  <a:srgbClr val="999999"/>
                </a:solidFill>
                <a:latin typeface="Microsoft YaHei"/>
              </a:defRPr>
            </a:pPr>
            <a:r>
              <a:t>基于 Vue + Spring Boot + MySQL 的菜谱分享与管理系统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40"/>
              </a:lnSpc>
              <a:spcAft>
                <a:spcPts val="200"/>
              </a:spcAft>
              <a:defRPr sz="800" b="0">
                <a:solidFill>
                  <a:srgbClr val="999999"/>
                </a:solidFill>
                <a:latin typeface="Microsoft YaHei"/>
              </a:defRPr>
            </a:pPr>
            <a:r>
              <a:t>2/27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36576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274320"/>
            <a:ext cx="1645920" cy="320040"/>
          </a:xfrm>
          <a:prstGeom prst="round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1000" b="1">
                <a:solidFill>
                  <a:srgbClr val="FFFFFF"/>
                </a:solidFill>
                <a:latin typeface="Microsoft YaHei"/>
              </a:defRPr>
            </a:pPr>
            <a:r>
              <a:t>01 项目背景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3152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860"/>
              </a:lnSpc>
              <a:spcAft>
                <a:spcPts val="200"/>
              </a:spcAft>
              <a:defRPr sz="2200" b="1">
                <a:solidFill>
                  <a:srgbClr val="2D2D2D"/>
                </a:solidFill>
                <a:latin typeface="Microsoft YaHei"/>
              </a:defRPr>
            </a:pPr>
            <a:r>
              <a:t>1.1 项目背景与研究意义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9728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0"/>
              </a:lnSpc>
              <a:spcAft>
                <a:spcPts val="200"/>
              </a:spcAft>
              <a:defRPr sz="1100" b="0">
                <a:solidFill>
                  <a:srgbClr val="666666"/>
                </a:solidFill>
                <a:latin typeface="Microsoft YaHei"/>
              </a:defRPr>
            </a:pPr>
            <a:r>
              <a:t>从日常生活痛点和课程实践两个角度说明项目建设的必要性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17320"/>
            <a:ext cx="10972800" cy="9144"/>
          </a:xfrm>
          <a:prstGeom prst="rect">
            <a:avLst/>
          </a:prstGeom>
          <a:solidFill>
            <a:srgbClr val="E8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40"/>
              </a:lnSpc>
              <a:spcAft>
                <a:spcPts val="200"/>
              </a:spcAft>
              <a:defRPr sz="800" b="0">
                <a:solidFill>
                  <a:srgbClr val="999999"/>
                </a:solidFill>
                <a:latin typeface="Microsoft YaHei"/>
              </a:defRPr>
            </a:pPr>
            <a:r>
              <a:t>3/27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6459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650"/>
              </a:lnSpc>
              <a:spcAft>
                <a:spcPts val="200"/>
              </a:spcAft>
              <a:defRPr sz="1300" b="1">
                <a:solidFill>
                  <a:srgbClr val="FF6B35"/>
                </a:solidFill>
                <a:latin typeface="Microsoft YaHei"/>
              </a:defRPr>
            </a:pPr>
            <a:r>
              <a:t>▎问题背景</a:t>
            </a:r>
          </a:p>
          <a:p>
            <a:pPr>
              <a:lnSpc>
                <a:spcPts val="1650"/>
              </a:lnSpc>
              <a:spcAft>
                <a:spcPts val="200"/>
              </a:spcAft>
              <a:defRPr sz="1100">
                <a:solidFill>
                  <a:srgbClr val="2D2D2D"/>
                </a:solidFill>
                <a:latin typeface="Microsoft YaHei"/>
              </a:defRPr>
            </a:pPr>
          </a:p>
          <a:p>
            <a:pPr>
              <a:lnSpc>
                <a:spcPts val="1650"/>
              </a:lnSpc>
              <a:spcAft>
                <a:spcPts val="200"/>
              </a:spcAft>
              <a:defRPr sz="1100">
                <a:solidFill>
                  <a:srgbClr val="2D2D2D"/>
                </a:solidFill>
                <a:latin typeface="Microsoft YaHei"/>
              </a:defRPr>
            </a:pPr>
            <a:r>
              <a:t>随着生活节奏加快，日常做饭时经常面临'想吃什么、家里有什</a:t>
            </a:r>
          </a:p>
          <a:p>
            <a:pPr>
              <a:lnSpc>
                <a:spcPts val="1650"/>
              </a:lnSpc>
              <a:spcAft>
                <a:spcPts val="200"/>
              </a:spcAft>
              <a:defRPr sz="1100">
                <a:solidFill>
                  <a:srgbClr val="2D2D2D"/>
                </a:solidFill>
                <a:latin typeface="Microsoft YaHei"/>
              </a:defRPr>
            </a:pPr>
            <a:r>
              <a:t>么、怎么做'的三大难题。菜谱内容分散在聊天记录、短视频收藏</a:t>
            </a:r>
          </a:p>
          <a:p>
            <a:pPr>
              <a:lnSpc>
                <a:spcPts val="1650"/>
              </a:lnSpc>
              <a:spcAft>
                <a:spcPts val="200"/>
              </a:spcAft>
              <a:defRPr sz="1100">
                <a:solidFill>
                  <a:srgbClr val="2D2D2D"/>
                </a:solidFill>
                <a:latin typeface="Microsoft YaHei"/>
              </a:defRPr>
            </a:pPr>
            <a:r>
              <a:t>和零散网页中，检索效率低，也不利于长期沉淀和分享。</a:t>
            </a:r>
          </a:p>
          <a:p>
            <a:pPr>
              <a:lnSpc>
                <a:spcPts val="1650"/>
              </a:lnSpc>
              <a:spcAft>
                <a:spcPts val="200"/>
              </a:spcAft>
              <a:defRPr sz="1100">
                <a:solidFill>
                  <a:srgbClr val="2D2D2D"/>
                </a:solidFill>
                <a:latin typeface="Microsoft YaHei"/>
              </a:defRPr>
            </a:pPr>
          </a:p>
          <a:p>
            <a:pPr>
              <a:lnSpc>
                <a:spcPts val="1650"/>
              </a:lnSpc>
              <a:spcAft>
                <a:spcPts val="200"/>
              </a:spcAft>
              <a:defRPr sz="1300" b="1">
                <a:solidFill>
                  <a:srgbClr val="FF6B35"/>
                </a:solidFill>
                <a:latin typeface="Microsoft YaHei"/>
              </a:defRPr>
            </a:pPr>
            <a:r>
              <a:t>▎项目定位</a:t>
            </a:r>
          </a:p>
          <a:p>
            <a:pPr>
              <a:lnSpc>
                <a:spcPts val="1650"/>
              </a:lnSpc>
              <a:spcAft>
                <a:spcPts val="200"/>
              </a:spcAft>
              <a:defRPr sz="1100">
                <a:solidFill>
                  <a:srgbClr val="2D2D2D"/>
                </a:solidFill>
                <a:latin typeface="Microsoft YaHei"/>
              </a:defRPr>
            </a:pPr>
          </a:p>
          <a:p>
            <a:pPr>
              <a:lnSpc>
                <a:spcPts val="1650"/>
              </a:lnSpc>
              <a:spcAft>
                <a:spcPts val="200"/>
              </a:spcAft>
              <a:defRPr sz="1100">
                <a:solidFill>
                  <a:srgbClr val="2D2D2D"/>
                </a:solidFill>
                <a:latin typeface="Microsoft YaHei"/>
              </a:defRPr>
            </a:pPr>
            <a:r>
              <a:t>食光菜谱系统面向美食分享与管理场景，提供菜谱浏览、搜索、发</a:t>
            </a:r>
          </a:p>
          <a:p>
            <a:pPr>
              <a:lnSpc>
                <a:spcPts val="1650"/>
              </a:lnSpc>
              <a:spcAft>
                <a:spcPts val="200"/>
              </a:spcAft>
              <a:defRPr sz="1100">
                <a:solidFill>
                  <a:srgbClr val="2D2D2D"/>
                </a:solidFill>
                <a:latin typeface="Microsoft YaHei"/>
              </a:defRPr>
            </a:pPr>
            <a:r>
              <a:t>布、收藏、评论和后台治理能力，致力于打造一个温暖的美食社区。</a:t>
            </a:r>
          </a:p>
          <a:p>
            <a:pPr>
              <a:lnSpc>
                <a:spcPts val="1650"/>
              </a:lnSpc>
              <a:spcAft>
                <a:spcPts val="200"/>
              </a:spcAft>
              <a:defRPr sz="1100">
                <a:solidFill>
                  <a:srgbClr val="2D2D2D"/>
                </a:solidFill>
                <a:latin typeface="Microsoft YaHei"/>
              </a:defRPr>
            </a:pPr>
          </a:p>
          <a:p>
            <a:pPr>
              <a:lnSpc>
                <a:spcPts val="1650"/>
              </a:lnSpc>
              <a:spcAft>
                <a:spcPts val="200"/>
              </a:spcAft>
              <a:defRPr sz="1300" b="1">
                <a:solidFill>
                  <a:srgbClr val="FF6B35"/>
                </a:solidFill>
                <a:latin typeface="Microsoft YaHei"/>
              </a:defRPr>
            </a:pPr>
            <a:r>
              <a:t>▎课程价值</a:t>
            </a:r>
          </a:p>
          <a:p>
            <a:pPr>
              <a:lnSpc>
                <a:spcPts val="1650"/>
              </a:lnSpc>
              <a:spcAft>
                <a:spcPts val="200"/>
              </a:spcAft>
              <a:defRPr sz="1100">
                <a:solidFill>
                  <a:srgbClr val="2D2D2D"/>
                </a:solidFill>
                <a:latin typeface="Microsoft YaHei"/>
              </a:defRPr>
            </a:pPr>
          </a:p>
          <a:p>
            <a:pPr>
              <a:lnSpc>
                <a:spcPts val="1650"/>
              </a:lnSpc>
              <a:spcAft>
                <a:spcPts val="200"/>
              </a:spcAft>
              <a:defRPr sz="1100">
                <a:solidFill>
                  <a:srgbClr val="2D2D2D"/>
                </a:solidFill>
                <a:latin typeface="Microsoft YaHei"/>
              </a:defRPr>
            </a:pPr>
            <a:r>
              <a:t>项目采用 Vue 3 + Spring Boot 3 + MySQL 的前后端分离架构，</a:t>
            </a:r>
          </a:p>
          <a:p>
            <a:pPr>
              <a:lnSpc>
                <a:spcPts val="1650"/>
              </a:lnSpc>
              <a:spcAft>
                <a:spcPts val="200"/>
              </a:spcAft>
              <a:defRPr sz="1100">
                <a:solidFill>
                  <a:srgbClr val="2D2D2D"/>
                </a:solidFill>
                <a:latin typeface="Microsoft YaHei"/>
              </a:defRPr>
            </a:pPr>
            <a:r>
              <a:t>贯通需求分析、数据库设计、接口开发、前后端联调与测试全流程，</a:t>
            </a:r>
          </a:p>
          <a:p>
            <a:pPr>
              <a:lnSpc>
                <a:spcPts val="1650"/>
              </a:lnSpc>
              <a:spcAft>
                <a:spcPts val="200"/>
              </a:spcAft>
              <a:defRPr sz="1100">
                <a:solidFill>
                  <a:srgbClr val="2D2D2D"/>
                </a:solidFill>
                <a:latin typeface="Microsoft YaHei"/>
              </a:defRPr>
            </a:pPr>
            <a:r>
              <a:t>适合作为课程设计中综合实践的完整案例。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45920"/>
            <a:ext cx="502920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0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7830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200" b="0">
                <a:solidFill>
                  <a:srgbClr val="2D2D2D"/>
                </a:solidFill>
                <a:latin typeface="Microsoft YaHei"/>
              </a:defRPr>
            </a:pPr>
            <a:r>
              <a:t>🖥️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148840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90"/>
              </a:lnSpc>
              <a:spcAft>
                <a:spcPts val="200"/>
              </a:spcAft>
              <a:defRPr sz="1300" b="1">
                <a:solidFill>
                  <a:srgbClr val="FF6B35"/>
                </a:solidFill>
                <a:latin typeface="Microsoft YaHei"/>
              </a:defRPr>
            </a:pPr>
            <a:r>
              <a:t>Vue 3 + Vite 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46888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170"/>
              </a:lnSpc>
              <a:spcAft>
                <a:spcPts val="200"/>
              </a:spcAft>
              <a:defRPr sz="900" b="0">
                <a:solidFill>
                  <a:srgbClr val="666666"/>
                </a:solidFill>
                <a:latin typeface="Microsoft YaHei"/>
              </a:defRPr>
            </a:pPr>
            <a:r>
              <a:t>前端组件化开发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271576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170"/>
              </a:lnSpc>
              <a:spcAft>
                <a:spcPts val="200"/>
              </a:spcAft>
              <a:defRPr sz="900" b="0">
                <a:solidFill>
                  <a:srgbClr val="666666"/>
                </a:solidFill>
                <a:latin typeface="Microsoft YaHei"/>
              </a:defRPr>
            </a:pPr>
            <a:r>
              <a:t>Element Plus UI库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2962656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170"/>
              </a:lnSpc>
              <a:spcAft>
                <a:spcPts val="200"/>
              </a:spcAft>
              <a:defRPr sz="900" b="0">
                <a:solidFill>
                  <a:srgbClr val="666666"/>
                </a:solidFill>
                <a:latin typeface="Microsoft YaHei"/>
              </a:defRPr>
            </a:pPr>
            <a:r>
              <a:t>Pinia 状态管理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108960"/>
            <a:ext cx="502920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0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324612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200" b="0">
                <a:solidFill>
                  <a:srgbClr val="2D2D2D"/>
                </a:solidFill>
                <a:latin typeface="Microsoft YaHei"/>
              </a:defRPr>
            </a:pPr>
            <a:r>
              <a:t>⚙️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3611880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90"/>
              </a:lnSpc>
              <a:spcAft>
                <a:spcPts val="200"/>
              </a:spcAft>
              <a:defRPr sz="1300" b="1">
                <a:solidFill>
                  <a:srgbClr val="FF6B35"/>
                </a:solidFill>
                <a:latin typeface="Microsoft YaHei"/>
              </a:defRPr>
            </a:pPr>
            <a:r>
              <a:t>Spring Boot 3.3.7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393192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170"/>
              </a:lnSpc>
              <a:spcAft>
                <a:spcPts val="200"/>
              </a:spcAft>
              <a:defRPr sz="900" b="0">
                <a:solidFill>
                  <a:srgbClr val="666666"/>
                </a:solidFill>
                <a:latin typeface="Microsoft YaHei"/>
              </a:defRPr>
            </a:pPr>
            <a:r>
              <a:t>RESTful API 设计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41788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170"/>
              </a:lnSpc>
              <a:spcAft>
                <a:spcPts val="200"/>
              </a:spcAft>
              <a:defRPr sz="900" b="0">
                <a:solidFill>
                  <a:srgbClr val="666666"/>
                </a:solidFill>
                <a:latin typeface="Microsoft YaHei"/>
              </a:defRPr>
            </a:pPr>
            <a:r>
              <a:t>MyBatis-Plus ORM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4425696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170"/>
              </a:lnSpc>
              <a:spcAft>
                <a:spcPts val="200"/>
              </a:spcAft>
              <a:defRPr sz="900" b="0">
                <a:solidFill>
                  <a:srgbClr val="666666"/>
                </a:solidFill>
                <a:latin typeface="Microsoft YaHei"/>
              </a:defRPr>
            </a:pPr>
            <a:r>
              <a:t>JWT 认证鉴权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4572000"/>
            <a:ext cx="502920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0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470916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200" b="0">
                <a:solidFill>
                  <a:srgbClr val="2D2D2D"/>
                </a:solidFill>
                <a:latin typeface="Microsoft YaHei"/>
              </a:defRPr>
            </a:pPr>
            <a:r>
              <a:t>🗄️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5074920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90"/>
              </a:lnSpc>
              <a:spcAft>
                <a:spcPts val="200"/>
              </a:spcAft>
              <a:defRPr sz="1300" b="1">
                <a:solidFill>
                  <a:srgbClr val="FF6B35"/>
                </a:solidFill>
                <a:latin typeface="Microsoft YaHei"/>
              </a:defRPr>
            </a:pPr>
            <a:r>
              <a:t>MySQL 8.4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6520" y="539496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170"/>
              </a:lnSpc>
              <a:spcAft>
                <a:spcPts val="200"/>
              </a:spcAft>
              <a:defRPr sz="900" b="0">
                <a:solidFill>
                  <a:srgbClr val="666666"/>
                </a:solidFill>
                <a:latin typeface="Microsoft YaHei"/>
              </a:defRPr>
            </a:pPr>
            <a:r>
              <a:t>关系数据持久化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6520" y="564184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170"/>
              </a:lnSpc>
              <a:spcAft>
                <a:spcPts val="200"/>
              </a:spcAft>
              <a:defRPr sz="900" b="0">
                <a:solidFill>
                  <a:srgbClr val="666666"/>
                </a:solidFill>
                <a:latin typeface="Microsoft YaHei"/>
              </a:defRPr>
            </a:pPr>
            <a:r>
              <a:t>7 张核心业务表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6520" y="5888736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170"/>
              </a:lnSpc>
              <a:spcAft>
                <a:spcPts val="200"/>
              </a:spcAft>
              <a:defRPr sz="900" b="0">
                <a:solidFill>
                  <a:srgbClr val="666666"/>
                </a:solidFill>
                <a:latin typeface="Microsoft YaHei"/>
              </a:defRPr>
            </a:pPr>
            <a:r>
              <a:t>逻辑删除设计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36576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274320"/>
            <a:ext cx="1645920" cy="320040"/>
          </a:xfrm>
          <a:prstGeom prst="round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1000" b="1">
                <a:solidFill>
                  <a:srgbClr val="FFFFFF"/>
                </a:solidFill>
                <a:latin typeface="Microsoft YaHei"/>
              </a:defRPr>
            </a:pPr>
            <a:r>
              <a:t>01 需求分析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3152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860"/>
              </a:lnSpc>
              <a:spcAft>
                <a:spcPts val="200"/>
              </a:spcAft>
              <a:defRPr sz="2200" b="1">
                <a:solidFill>
                  <a:srgbClr val="2D2D2D"/>
                </a:solidFill>
                <a:latin typeface="Microsoft YaHei"/>
              </a:defRPr>
            </a:pPr>
            <a:r>
              <a:t>1.2 用户角色与权限分析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9728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0"/>
              </a:lnSpc>
              <a:spcAft>
                <a:spcPts val="200"/>
              </a:spcAft>
              <a:defRPr sz="1100" b="0">
                <a:solidFill>
                  <a:srgbClr val="666666"/>
                </a:solidFill>
                <a:latin typeface="Microsoft YaHei"/>
              </a:defRPr>
            </a:pPr>
            <a:r>
              <a:t>系统包含三种角色：游客、普通用户和管理员，权限边界清晰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17320"/>
            <a:ext cx="10972800" cy="9144"/>
          </a:xfrm>
          <a:prstGeom prst="rect">
            <a:avLst/>
          </a:prstGeom>
          <a:solidFill>
            <a:srgbClr val="E8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40"/>
              </a:lnSpc>
              <a:spcAft>
                <a:spcPts val="200"/>
              </a:spcAft>
              <a:defRPr sz="800" b="0">
                <a:solidFill>
                  <a:srgbClr val="999999"/>
                </a:solidFill>
                <a:latin typeface="Microsoft YaHei"/>
              </a:defRPr>
            </a:pPr>
            <a:r>
              <a:t>4/27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645920"/>
            <a:ext cx="347472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0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59" y="18288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800" b="0">
                <a:solidFill>
                  <a:srgbClr val="2D2D2D"/>
                </a:solidFill>
                <a:latin typeface="Microsoft YaHei"/>
              </a:defRPr>
            </a:pPr>
            <a:r>
              <a:t>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2286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80"/>
              </a:lnSpc>
              <a:spcAft>
                <a:spcPts val="200"/>
              </a:spcAft>
              <a:defRPr sz="1600" b="1">
                <a:solidFill>
                  <a:srgbClr val="2980B9"/>
                </a:solidFill>
                <a:latin typeface="Microsoft YaHei"/>
              </a:defRPr>
            </a:pPr>
            <a:r>
              <a:t>游客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59" y="2651760"/>
            <a:ext cx="1371600" cy="27432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9260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0"/>
              </a:lnSpc>
              <a:spcAft>
                <a:spcPts val="200"/>
              </a:spcAft>
              <a:defRPr sz="1100" b="0">
                <a:solidFill>
                  <a:srgbClr val="2D2D2D"/>
                </a:solidFill>
                <a:latin typeface="Microsoft YaHei"/>
              </a:defRPr>
            </a:pPr>
            <a:r>
              <a:t>•  浏览菜谱列表与详情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246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0"/>
              </a:lnSpc>
              <a:spcAft>
                <a:spcPts val="200"/>
              </a:spcAft>
              <a:defRPr sz="1100" b="0">
                <a:solidFill>
                  <a:srgbClr val="2D2D2D"/>
                </a:solidFill>
                <a:latin typeface="Microsoft YaHei"/>
              </a:defRPr>
            </a:pPr>
            <a:r>
              <a:t>•  按分类和关键词搜索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5661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0"/>
              </a:lnSpc>
              <a:spcAft>
                <a:spcPts val="200"/>
              </a:spcAft>
              <a:defRPr sz="1100" b="0">
                <a:solidFill>
                  <a:srgbClr val="2D2D2D"/>
                </a:solidFill>
                <a:latin typeface="Microsoft YaHei"/>
              </a:defRPr>
            </a:pPr>
            <a:r>
              <a:t>•  查看评论与收藏数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8862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0"/>
              </a:lnSpc>
              <a:spcAft>
                <a:spcPts val="200"/>
              </a:spcAft>
              <a:defRPr sz="1100" b="0">
                <a:solidFill>
                  <a:srgbClr val="2D2D2D"/>
                </a:solidFill>
                <a:latin typeface="Microsoft YaHei"/>
              </a:defRPr>
            </a:pPr>
            <a:r>
              <a:t>•  无需登录即可访问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9120" y="1645920"/>
            <a:ext cx="347472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0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63440" y="18288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800" b="0">
                <a:solidFill>
                  <a:srgbClr val="2D2D2D"/>
                </a:solidFill>
                <a:latin typeface="Microsoft YaHei"/>
              </a:defRPr>
            </a:pPr>
            <a:r>
              <a:t>👨‍🍳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63440" y="2286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80"/>
              </a:lnSpc>
              <a:spcAft>
                <a:spcPts val="200"/>
              </a:spcAft>
              <a:defRPr sz="1600" b="1">
                <a:solidFill>
                  <a:srgbClr val="FF6B35"/>
                </a:solidFill>
                <a:latin typeface="Microsoft YaHei"/>
              </a:defRPr>
            </a:pPr>
            <a:r>
              <a:t>普通用户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63440" y="2651760"/>
            <a:ext cx="1371600" cy="27432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54880" y="29260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0"/>
              </a:lnSpc>
              <a:spcAft>
                <a:spcPts val="200"/>
              </a:spcAft>
              <a:defRPr sz="1100" b="0">
                <a:solidFill>
                  <a:srgbClr val="2D2D2D"/>
                </a:solidFill>
                <a:latin typeface="Microsoft YaHei"/>
              </a:defRPr>
            </a:pPr>
            <a:r>
              <a:t>•  发布/编辑/删除自己的菜谱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54880" y="3246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0"/>
              </a:lnSpc>
              <a:spcAft>
                <a:spcPts val="200"/>
              </a:spcAft>
              <a:defRPr sz="1100" b="0">
                <a:solidFill>
                  <a:srgbClr val="2D2D2D"/>
                </a:solidFill>
                <a:latin typeface="Microsoft YaHei"/>
              </a:defRPr>
            </a:pPr>
            <a:r>
              <a:t>•  收藏与取消收藏菜谱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35661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0"/>
              </a:lnSpc>
              <a:spcAft>
                <a:spcPts val="200"/>
              </a:spcAft>
              <a:defRPr sz="1100" b="0">
                <a:solidFill>
                  <a:srgbClr val="2D2D2D"/>
                </a:solidFill>
                <a:latin typeface="Microsoft YaHei"/>
              </a:defRPr>
            </a:pPr>
            <a:r>
              <a:t>•  发表评论与互动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54880" y="38862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0"/>
              </a:lnSpc>
              <a:spcAft>
                <a:spcPts val="200"/>
              </a:spcAft>
              <a:defRPr sz="1100" b="0">
                <a:solidFill>
                  <a:srgbClr val="2D2D2D"/>
                </a:solidFill>
                <a:latin typeface="Microsoft YaHei"/>
              </a:defRPr>
            </a:pPr>
            <a:r>
              <a:t>•  冰箱寻菜智能匹配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54880" y="42062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0"/>
              </a:lnSpc>
              <a:spcAft>
                <a:spcPts val="200"/>
              </a:spcAft>
              <a:defRPr sz="1100" b="0">
                <a:solidFill>
                  <a:srgbClr val="2D2D2D"/>
                </a:solidFill>
                <a:latin typeface="Microsoft YaHei"/>
              </a:defRPr>
            </a:pPr>
            <a:r>
              <a:t>•  维护个人资料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29600" y="1645920"/>
            <a:ext cx="347472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0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03920" y="18288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2800" b="0">
                <a:solidFill>
                  <a:srgbClr val="2D2D2D"/>
                </a:solidFill>
                <a:latin typeface="Microsoft YaHei"/>
              </a:defRPr>
            </a:pPr>
            <a:r>
              <a:t>🛡️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03920" y="2286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80"/>
              </a:lnSpc>
              <a:spcAft>
                <a:spcPts val="200"/>
              </a:spcAft>
              <a:defRPr sz="1600" b="1">
                <a:solidFill>
                  <a:srgbClr val="E74C3C"/>
                </a:solidFill>
                <a:latin typeface="Microsoft YaHei"/>
              </a:defRPr>
            </a:pPr>
            <a:r>
              <a:t>管理员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503920" y="2651760"/>
            <a:ext cx="1371600" cy="27432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95360" y="29260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0"/>
              </a:lnSpc>
              <a:spcAft>
                <a:spcPts val="200"/>
              </a:spcAft>
              <a:defRPr sz="1100" b="0">
                <a:solidFill>
                  <a:srgbClr val="2D2D2D"/>
                </a:solidFill>
                <a:latin typeface="Microsoft YaHei"/>
              </a:defRPr>
            </a:pPr>
            <a:r>
              <a:t>•  系统统计概览面板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95360" y="3246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0"/>
              </a:lnSpc>
              <a:spcAft>
                <a:spcPts val="200"/>
              </a:spcAft>
              <a:defRPr sz="1100" b="0">
                <a:solidFill>
                  <a:srgbClr val="2D2D2D"/>
                </a:solidFill>
                <a:latin typeface="Microsoft YaHei"/>
              </a:defRPr>
            </a:pPr>
            <a:r>
              <a:t>•  用户启停管理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95360" y="35661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0"/>
              </a:lnSpc>
              <a:spcAft>
                <a:spcPts val="200"/>
              </a:spcAft>
              <a:defRPr sz="1100" b="0">
                <a:solidFill>
                  <a:srgbClr val="2D2D2D"/>
                </a:solidFill>
                <a:latin typeface="Microsoft YaHei"/>
              </a:defRPr>
            </a:pPr>
            <a:r>
              <a:t>•  菜谱上下架审核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95360" y="38862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0"/>
              </a:lnSpc>
              <a:spcAft>
                <a:spcPts val="200"/>
              </a:spcAft>
              <a:defRPr sz="1100" b="0">
                <a:solidFill>
                  <a:srgbClr val="2D2D2D"/>
                </a:solidFill>
                <a:latin typeface="Microsoft YaHei"/>
              </a:defRPr>
            </a:pPr>
            <a:r>
              <a:t>•  分类新增/编辑/删除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95360" y="42062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0"/>
              </a:lnSpc>
              <a:spcAft>
                <a:spcPts val="200"/>
              </a:spcAft>
              <a:defRPr sz="1100" b="0">
                <a:solidFill>
                  <a:srgbClr val="2D2D2D"/>
                </a:solidFill>
                <a:latin typeface="Microsoft YaHei"/>
              </a:defRPr>
            </a:pPr>
            <a:r>
              <a:t>•  评论内容治理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36576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274320"/>
            <a:ext cx="1645920" cy="320040"/>
          </a:xfrm>
          <a:prstGeom prst="round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1000" b="1">
                <a:solidFill>
                  <a:srgbClr val="FFFFFF"/>
                </a:solidFill>
                <a:latin typeface="Microsoft YaHei"/>
              </a:defRPr>
            </a:pPr>
            <a:r>
              <a:t>01 需求分析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3152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860"/>
              </a:lnSpc>
              <a:spcAft>
                <a:spcPts val="200"/>
              </a:spcAft>
              <a:defRPr sz="2200" b="1">
                <a:solidFill>
                  <a:srgbClr val="2D2D2D"/>
                </a:solidFill>
                <a:latin typeface="Microsoft YaHei"/>
              </a:defRPr>
            </a:pPr>
            <a:r>
              <a:t>1.3 功能需求分析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9728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0"/>
              </a:lnSpc>
              <a:spcAft>
                <a:spcPts val="200"/>
              </a:spcAft>
              <a:defRPr sz="1100" b="0">
                <a:solidFill>
                  <a:srgbClr val="666666"/>
                </a:solidFill>
                <a:latin typeface="Microsoft YaHei"/>
              </a:defRPr>
            </a:pPr>
            <a:r>
              <a:t>围绕用户端内容发现、内容生产和互动闭环设计，管理员端负责内容治理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17320"/>
            <a:ext cx="10972800" cy="9144"/>
          </a:xfrm>
          <a:prstGeom prst="rect">
            <a:avLst/>
          </a:prstGeom>
          <a:solidFill>
            <a:srgbClr val="E8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40"/>
              </a:lnSpc>
              <a:spcAft>
                <a:spcPts val="200"/>
              </a:spcAft>
              <a:defRPr sz="800" b="0">
                <a:solidFill>
                  <a:srgbClr val="999999"/>
                </a:solidFill>
                <a:latin typeface="Microsoft YaHei"/>
              </a:defRPr>
            </a:pPr>
            <a:r>
              <a:t>5/27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645920"/>
          <a:ext cx="109728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4114800"/>
                <a:gridCol w="5486400"/>
              </a:tblGrid>
              <a:tr h="50800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模块</a:t>
                      </a:r>
                    </a:p>
                  </a:txBody>
                  <a:tcPr>
                    <a:solidFill>
                      <a:srgbClr val="FF6B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功能描述</a:t>
                      </a:r>
                    </a:p>
                  </a:txBody>
                  <a:tcPr>
                    <a:solidFill>
                      <a:srgbClr val="FF6B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对应页面 / 接口</a:t>
                      </a:r>
                    </a:p>
                  </a:txBody>
                  <a:tcPr>
                    <a:solidFill>
                      <a:srgbClr val="FF6B35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注册登录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用户名密码注册，登录后 JWT 保存 token 与用户信息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/login、/register、POST /api/user/login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菜谱浏览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首页推荐、最新上传、热门榜单、分页列表浏览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/、/recipes、GET /api/recipe/list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搜索筛选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关键词搜索、分类筛选；后端按标题、简介和食材名匹配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GET /api/recipe/list?keyword=&amp;categoryId=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菜谱详情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封面、简介、难度、时间、食材清单、步骤、作者信息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/recipe/:id、GET /api/recipe/{id}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发布菜谱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填基础信息、动态添加食材和步骤、小贴士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/publish、POST /api/recipe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收藏评论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登录用户收藏/取消收藏，发表评论刷新详情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POST /api/favorite、POST /api/comment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冰箱寻菜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选择已有食材，前端按匹配度计算可做菜谱列表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/fridge（纯前端匹配算法）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后台管理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统计面板、用户启停、菜谱上下架、分类维护、评论治理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/admin、GET/POST /api/admin/**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36576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274320"/>
            <a:ext cx="1645920" cy="320040"/>
          </a:xfrm>
          <a:prstGeom prst="round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1000" b="1">
                <a:solidFill>
                  <a:srgbClr val="FFFFFF"/>
                </a:solidFill>
                <a:latin typeface="Microsoft YaHei"/>
              </a:defRPr>
            </a:pPr>
            <a:r>
              <a:t>01 需求分析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3152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860"/>
              </a:lnSpc>
              <a:spcAft>
                <a:spcPts val="200"/>
              </a:spcAft>
              <a:defRPr sz="2200" b="1">
                <a:solidFill>
                  <a:srgbClr val="2D2D2D"/>
                </a:solidFill>
                <a:latin typeface="Microsoft YaHei"/>
              </a:defRPr>
            </a:pPr>
            <a:r>
              <a:t>1.4 非功能需求分析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9728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0"/>
              </a:lnSpc>
              <a:spcAft>
                <a:spcPts val="200"/>
              </a:spcAft>
              <a:defRPr sz="1100" b="0">
                <a:solidFill>
                  <a:srgbClr val="666666"/>
                </a:solidFill>
                <a:latin typeface="Microsoft YaHei"/>
              </a:defRPr>
            </a:pPr>
            <a:r>
              <a:t>覆盖数据安全性、响应性能、界面易用性和可维护性四个维度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17320"/>
            <a:ext cx="10972800" cy="9144"/>
          </a:xfrm>
          <a:prstGeom prst="rect">
            <a:avLst/>
          </a:prstGeom>
          <a:solidFill>
            <a:srgbClr val="E8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40"/>
              </a:lnSpc>
              <a:spcAft>
                <a:spcPts val="200"/>
              </a:spcAft>
              <a:defRPr sz="800" b="0">
                <a:solidFill>
                  <a:srgbClr val="999999"/>
                </a:solidFill>
                <a:latin typeface="Microsoft YaHei"/>
              </a:defRPr>
            </a:pPr>
            <a:r>
              <a:t>6/27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645920"/>
            <a:ext cx="530352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0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59" y="17830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2200" b="0">
                <a:solidFill>
                  <a:srgbClr val="2D2D2D"/>
                </a:solidFill>
                <a:latin typeface="Microsoft YaHei"/>
              </a:defRPr>
            </a:pPr>
            <a:r>
              <a:t>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182880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spcAft>
                <a:spcPts val="200"/>
              </a:spcAft>
              <a:defRPr sz="1500" b="1">
                <a:solidFill>
                  <a:srgbClr val="2980B9"/>
                </a:solidFill>
                <a:latin typeface="Microsoft YaHei"/>
              </a:defRPr>
            </a:pPr>
            <a:r>
              <a:t>数据安全性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2860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00"/>
              </a:lnSpc>
              <a:spcAft>
                <a:spcPts val="200"/>
              </a:spcAft>
              <a:defRPr sz="1000" b="0">
                <a:solidFill>
                  <a:srgbClr val="2D2D2D"/>
                </a:solidFill>
                <a:latin typeface="Microsoft YaHei"/>
              </a:defRPr>
            </a:pPr>
            <a:r>
              <a:t>• 密码使用 BCrypt 加盐加密存储，不可逆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633472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00"/>
              </a:lnSpc>
              <a:spcAft>
                <a:spcPts val="200"/>
              </a:spcAft>
              <a:defRPr sz="1000" b="0">
                <a:solidFill>
                  <a:srgbClr val="2D2D2D"/>
                </a:solidFill>
                <a:latin typeface="Microsoft YaHei"/>
              </a:defRPr>
            </a:pPr>
            <a:r>
              <a:t>• JWT 令牌认证，每次请求携带 token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980944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00"/>
              </a:lnSpc>
              <a:spcAft>
                <a:spcPts val="200"/>
              </a:spcAft>
              <a:defRPr sz="1000" b="0">
                <a:solidFill>
                  <a:srgbClr val="2D2D2D"/>
                </a:solidFill>
                <a:latin typeface="Microsoft YaHei"/>
              </a:defRPr>
            </a:pPr>
            <a:r>
              <a:t>• AuthInterceptor 拦截未登录请求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328416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00"/>
              </a:lnSpc>
              <a:spcAft>
                <a:spcPts val="200"/>
              </a:spcAft>
              <a:defRPr sz="1000" b="0">
                <a:solidFill>
                  <a:srgbClr val="2D2D2D"/>
                </a:solidFill>
                <a:latin typeface="Microsoft YaHei"/>
              </a:defRPr>
            </a:pPr>
            <a:r>
              <a:t>• 后台接口校验 ADMIN 角色，用户禁用后 token 失效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645920"/>
            <a:ext cx="530352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0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17830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2200" b="0">
                <a:solidFill>
                  <a:srgbClr val="2D2D2D"/>
                </a:solidFill>
                <a:latin typeface="Microsoft YaHei"/>
              </a:defRPr>
            </a:pPr>
            <a:r>
              <a:t>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0" y="182880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spcAft>
                <a:spcPts val="200"/>
              </a:spcAft>
              <a:defRPr sz="1500" b="1">
                <a:solidFill>
                  <a:srgbClr val="FF6B35"/>
                </a:solidFill>
                <a:latin typeface="Microsoft YaHei"/>
              </a:defRPr>
            </a:pPr>
            <a:r>
              <a:t>响应性能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22860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00"/>
              </a:lnSpc>
              <a:spcAft>
                <a:spcPts val="200"/>
              </a:spcAft>
              <a:defRPr sz="1000" b="0">
                <a:solidFill>
                  <a:srgbClr val="2D2D2D"/>
                </a:solidFill>
                <a:latin typeface="Microsoft YaHei"/>
              </a:defRPr>
            </a:pPr>
            <a:r>
              <a:t>• 列表分页查询，pageSize 最大 50 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2633472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00"/>
              </a:lnSpc>
              <a:spcAft>
                <a:spcPts val="200"/>
              </a:spcAft>
              <a:defRPr sz="1000" b="0">
                <a:solidFill>
                  <a:srgbClr val="2D2D2D"/>
                </a:solidFill>
                <a:latin typeface="Microsoft YaHei"/>
              </a:defRPr>
            </a:pPr>
            <a:r>
              <a:t>• 常用字段建立数据库索引（title, status, create_time）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2980944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00"/>
              </a:lnSpc>
              <a:spcAft>
                <a:spcPts val="200"/>
              </a:spcAft>
              <a:defRPr sz="1000" b="0">
                <a:solidFill>
                  <a:srgbClr val="2D2D2D"/>
                </a:solidFill>
                <a:latin typeface="Microsoft YaHei"/>
              </a:defRPr>
            </a:pPr>
            <a:r>
              <a:t>• axios 设置 15 秒超时，统一错误拦截提示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3328416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00"/>
              </a:lnSpc>
              <a:spcAft>
                <a:spcPts val="200"/>
              </a:spcAft>
              <a:defRPr sz="1000" b="0">
                <a:solidFill>
                  <a:srgbClr val="2D2D2D"/>
                </a:solidFill>
                <a:latin typeface="Microsoft YaHei"/>
              </a:defRPr>
            </a:pPr>
            <a:r>
              <a:t>• 前端 keep-alive 缓存页面状态，减少重复加载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160520"/>
            <a:ext cx="530352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0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59" y="42976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2200" b="0">
                <a:solidFill>
                  <a:srgbClr val="2D2D2D"/>
                </a:solidFill>
                <a:latin typeface="Microsoft YaHei"/>
              </a:defRPr>
            </a:pPr>
            <a:r>
              <a:t>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160" y="434340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spcAft>
                <a:spcPts val="200"/>
              </a:spcAft>
              <a:defRPr sz="1500" b="1">
                <a:solidFill>
                  <a:srgbClr val="27AE60"/>
                </a:solidFill>
                <a:latin typeface="Microsoft YaHei"/>
              </a:defRPr>
            </a:pPr>
            <a:r>
              <a:t>界面易用性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48006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00"/>
              </a:lnSpc>
              <a:spcAft>
                <a:spcPts val="200"/>
              </a:spcAft>
              <a:defRPr sz="1000" b="0">
                <a:solidFill>
                  <a:srgbClr val="2D2D2D"/>
                </a:solidFill>
                <a:latin typeface="Microsoft YaHei"/>
              </a:defRPr>
            </a:pPr>
            <a:r>
              <a:t>• 首页突出搜索框、分类入口和推荐卡片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5148072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00"/>
              </a:lnSpc>
              <a:spcAft>
                <a:spcPts val="200"/>
              </a:spcAft>
              <a:defRPr sz="1000" b="0">
                <a:solidFill>
                  <a:srgbClr val="2D2D2D"/>
                </a:solidFill>
                <a:latin typeface="Microsoft YaHei"/>
              </a:defRPr>
            </a:pPr>
            <a:r>
              <a:t>• 发布页按基础信息、食材、步骤分区填写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495544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00"/>
              </a:lnSpc>
              <a:spcAft>
                <a:spcPts val="200"/>
              </a:spcAft>
              <a:defRPr sz="1000" b="0">
                <a:solidFill>
                  <a:srgbClr val="2D2D2D"/>
                </a:solidFill>
                <a:latin typeface="Microsoft YaHei"/>
              </a:defRPr>
            </a:pPr>
            <a:r>
              <a:t>• 后台通过统计卡片、Tab 和表格组织管理任务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5843016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00"/>
              </a:lnSpc>
              <a:spcAft>
                <a:spcPts val="200"/>
              </a:spcAft>
              <a:defRPr sz="1000" b="0">
                <a:solidFill>
                  <a:srgbClr val="2D2D2D"/>
                </a:solidFill>
                <a:latin typeface="Microsoft YaHei"/>
              </a:defRPr>
            </a:pPr>
            <a:r>
              <a:t>• 表单实时校验，操作后即时反馈提示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17920" y="4160520"/>
            <a:ext cx="530352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0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92240" y="42976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2200" b="0">
                <a:solidFill>
                  <a:srgbClr val="2D2D2D"/>
                </a:solidFill>
                <a:latin typeface="Microsoft YaHei"/>
              </a:defRPr>
            </a:pPr>
            <a:r>
              <a:t>🔧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434340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50"/>
              </a:lnSpc>
              <a:spcAft>
                <a:spcPts val="200"/>
              </a:spcAft>
              <a:defRPr sz="1500" b="1">
                <a:solidFill>
                  <a:srgbClr val="2D2D2D"/>
                </a:solidFill>
                <a:latin typeface="Microsoft YaHei"/>
              </a:defRPr>
            </a:pPr>
            <a:r>
              <a:t>可维护性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0" y="48006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00"/>
              </a:lnSpc>
              <a:spcAft>
                <a:spcPts val="200"/>
              </a:spcAft>
              <a:defRPr sz="1000" b="0">
                <a:solidFill>
                  <a:srgbClr val="2D2D2D"/>
                </a:solidFill>
                <a:latin typeface="Microsoft YaHei"/>
              </a:defRPr>
            </a:pPr>
            <a:r>
              <a:t>• 前后端分离，独立部署和开发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0" y="5148072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00"/>
              </a:lnSpc>
              <a:spcAft>
                <a:spcPts val="200"/>
              </a:spcAft>
              <a:defRPr sz="1000" b="0">
                <a:solidFill>
                  <a:srgbClr val="2D2D2D"/>
                </a:solidFill>
                <a:latin typeface="Microsoft YaHei"/>
              </a:defRPr>
            </a:pPr>
            <a:r>
              <a:t>• 统一 Result 响应格式，前端只需判断 code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0" y="5495544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00"/>
              </a:lnSpc>
              <a:spcAft>
                <a:spcPts val="200"/>
              </a:spcAft>
              <a:defRPr sz="1000" b="0">
                <a:solidFill>
                  <a:srgbClr val="2D2D2D"/>
                </a:solidFill>
                <a:latin typeface="Microsoft YaHei"/>
              </a:defRPr>
            </a:pPr>
            <a:r>
              <a:t>• BusinessException 统一异常处理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0" y="5843016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00"/>
              </a:lnSpc>
              <a:spcAft>
                <a:spcPts val="200"/>
              </a:spcAft>
              <a:defRPr sz="1000" b="0">
                <a:solidFill>
                  <a:srgbClr val="2D2D2D"/>
                </a:solidFill>
                <a:latin typeface="Microsoft YaHei"/>
              </a:defRPr>
            </a:pPr>
            <a:r>
              <a:t>• 逻辑删除设计（deleted 字段），便于数据恢复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2286000"/>
            <a:ext cx="73152" cy="1645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28600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5460"/>
              </a:lnSpc>
              <a:spcAft>
                <a:spcPts val="200"/>
              </a:spcAft>
              <a:defRPr sz="4200" b="1">
                <a:solidFill>
                  <a:srgbClr val="FF6B35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88036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160"/>
              </a:lnSpc>
              <a:spcAft>
                <a:spcPts val="200"/>
              </a:spcAft>
              <a:defRPr sz="3200" b="1">
                <a:solidFill>
                  <a:srgbClr val="FFFFFF"/>
                </a:solidFill>
                <a:latin typeface="Microsoft YaHei"/>
              </a:defRPr>
            </a:pPr>
            <a:r>
              <a:t>系统总体设计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6118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20"/>
              </a:lnSpc>
              <a:spcAft>
                <a:spcPts val="200"/>
              </a:spcAft>
              <a:defRPr sz="1400" b="0">
                <a:solidFill>
                  <a:srgbClr val="999999"/>
                </a:solidFill>
                <a:latin typeface="Microsoft YaHei"/>
              </a:defRPr>
            </a:pPr>
            <a:r>
              <a:t>从技术架构、数据流和功能模块三个层面描述系统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5029200"/>
            <a:ext cx="9601200" cy="13716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212080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170"/>
              </a:lnSpc>
              <a:spcAft>
                <a:spcPts val="200"/>
              </a:spcAft>
              <a:defRPr sz="900" b="0">
                <a:solidFill>
                  <a:srgbClr val="999999"/>
                </a:solidFill>
                <a:latin typeface="Microsoft YaHei"/>
              </a:defRPr>
            </a:pPr>
            <a:r>
              <a:t>基于 Vue + Spring Boot + MySQL 的菜谱分享与管理系统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40"/>
              </a:lnSpc>
              <a:spcAft>
                <a:spcPts val="200"/>
              </a:spcAft>
              <a:defRPr sz="800" b="0">
                <a:solidFill>
                  <a:srgbClr val="999999"/>
                </a:solidFill>
                <a:latin typeface="Microsoft YaHei"/>
              </a:defRPr>
            </a:pPr>
            <a:r>
              <a:t>7/27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36576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274320"/>
            <a:ext cx="1645920" cy="320040"/>
          </a:xfrm>
          <a:prstGeom prst="round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1000" b="1">
                <a:solidFill>
                  <a:srgbClr val="FFFFFF"/>
                </a:solidFill>
                <a:latin typeface="Microsoft YaHei"/>
              </a:defRPr>
            </a:pPr>
            <a:r>
              <a:t>02 总体设计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3152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860"/>
              </a:lnSpc>
              <a:spcAft>
                <a:spcPts val="200"/>
              </a:spcAft>
              <a:defRPr sz="2200" b="1">
                <a:solidFill>
                  <a:srgbClr val="2D2D2D"/>
                </a:solidFill>
                <a:latin typeface="Microsoft YaHei"/>
              </a:defRPr>
            </a:pPr>
            <a:r>
              <a:t>2.1 系统总体架构设计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9728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0"/>
              </a:lnSpc>
              <a:spcAft>
                <a:spcPts val="200"/>
              </a:spcAft>
              <a:defRPr sz="1100" b="0">
                <a:solidFill>
                  <a:srgbClr val="666666"/>
                </a:solidFill>
                <a:latin typeface="Microsoft YaHei"/>
              </a:defRPr>
            </a:pPr>
            <a:r>
              <a:t>经典三层架构：表现层（Vue 3）、业务逻辑层（Spring Boot）、数据层（MySQL）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17320"/>
            <a:ext cx="10972800" cy="9144"/>
          </a:xfrm>
          <a:prstGeom prst="rect">
            <a:avLst/>
          </a:prstGeom>
          <a:solidFill>
            <a:srgbClr val="E8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40"/>
              </a:lnSpc>
              <a:spcAft>
                <a:spcPts val="200"/>
              </a:spcAft>
              <a:defRPr sz="800" b="0">
                <a:solidFill>
                  <a:srgbClr val="999999"/>
                </a:solidFill>
                <a:latin typeface="Microsoft YaHei"/>
              </a:defRPr>
            </a:pPr>
            <a:r>
              <a:t>8/27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71600" y="1737360"/>
            <a:ext cx="9418320" cy="1280160"/>
          </a:xfrm>
          <a:prstGeom prst="round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45920" y="1874519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340"/>
              </a:lnSpc>
              <a:spcAft>
                <a:spcPts val="200"/>
              </a:spcAft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表现层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22402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0"/>
              </a:lnSpc>
              <a:spcAft>
                <a:spcPts val="200"/>
              </a:spcAft>
              <a:defRPr sz="1100" b="0">
                <a:solidFill>
                  <a:srgbClr val="FFFFDD"/>
                </a:solidFill>
                <a:latin typeface="Microsoft YaHei"/>
              </a:defRPr>
            </a:pPr>
            <a:r>
              <a:t>Vue 3 + Vite 6 + Element Plus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2514600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00"/>
              </a:lnSpc>
              <a:spcAft>
                <a:spcPts val="200"/>
              </a:spcAft>
              <a:defRPr sz="1000" b="0">
                <a:solidFill>
                  <a:srgbClr val="FFFFEE"/>
                </a:solidFill>
                <a:latin typeface="Microsoft YaHei"/>
              </a:defRPr>
            </a:pPr>
            <a:r>
              <a:t>Vue Router 路由管理 · Pinia 状态管理 · Axios HTTP 请求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30175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1600" b="0">
                <a:solidFill>
                  <a:srgbClr val="666666"/>
                </a:solidFill>
                <a:latin typeface="Microsoft YaHei"/>
              </a:defRPr>
            </a:pPr>
            <a:r>
              <a:t>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371600" y="3291839"/>
            <a:ext cx="9418320" cy="1280160"/>
          </a:xfrm>
          <a:prstGeom prst="round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645920" y="3428999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340"/>
              </a:lnSpc>
              <a:spcAft>
                <a:spcPts val="200"/>
              </a:spcAft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业务逻辑层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3794759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0"/>
              </a:lnSpc>
              <a:spcAft>
                <a:spcPts val="200"/>
              </a:spcAft>
              <a:defRPr sz="1100" b="0">
                <a:solidFill>
                  <a:srgbClr val="FFFFDD"/>
                </a:solidFill>
                <a:latin typeface="Microsoft YaHei"/>
              </a:defRPr>
            </a:pPr>
            <a:r>
              <a:t>Spring Boot 3.3.7 + MyBatis-Plus 3.5.9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4069079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00"/>
              </a:lnSpc>
              <a:spcAft>
                <a:spcPts val="200"/>
              </a:spcAft>
              <a:defRPr sz="1000" b="0">
                <a:solidFill>
                  <a:srgbClr val="FFFFEE"/>
                </a:solidFill>
                <a:latin typeface="Microsoft YaHei"/>
              </a:defRPr>
            </a:pPr>
            <a:r>
              <a:t>Controller 接收请求 · Service 业务处理 · Mapper 数据访问 · JWT 认证拦截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45720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1600" b="0">
                <a:solidFill>
                  <a:srgbClr val="666666"/>
                </a:solidFill>
                <a:latin typeface="Microsoft YaHei"/>
              </a:defRPr>
            </a:pPr>
            <a:r>
              <a:t>▼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0" y="4846320"/>
            <a:ext cx="9418320" cy="128016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645920" y="498348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340"/>
              </a:lnSpc>
              <a:spcAft>
                <a:spcPts val="200"/>
              </a:spcAft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数据层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5349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0"/>
              </a:lnSpc>
              <a:spcAft>
                <a:spcPts val="200"/>
              </a:spcAft>
              <a:defRPr sz="1100" b="0">
                <a:solidFill>
                  <a:srgbClr val="FFFFDD"/>
                </a:solidFill>
                <a:latin typeface="Microsoft YaHei"/>
              </a:defRPr>
            </a:pPr>
            <a:r>
              <a:t>MySQL 8.4 + 7 张核心业务表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45920" y="5623559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00"/>
              </a:lnSpc>
              <a:spcAft>
                <a:spcPts val="200"/>
              </a:spcAft>
              <a:defRPr sz="1000" b="0">
                <a:solidFill>
                  <a:srgbClr val="FFFFEE"/>
                </a:solidFill>
                <a:latin typeface="Microsoft YaHei"/>
              </a:defRPr>
            </a:pPr>
            <a:r>
              <a:t>user · category · recipe · recipe_ingredient · recipe_step · favorite · comment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0" y="16459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00"/>
              </a:lnSpc>
              <a:spcAft>
                <a:spcPts val="200"/>
              </a:spcAft>
              <a:defRPr sz="1200" b="1">
                <a:solidFill>
                  <a:srgbClr val="FF6B35"/>
                </a:solidFill>
                <a:latin typeface="Microsoft YaHei"/>
              </a:defRPr>
            </a:pPr>
            <a:r>
              <a:t>▎数据流说明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Microsoft YaHei"/>
              </a:defRPr>
            </a:pP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Microsoft YaHei"/>
              </a:defRPr>
            </a:pPr>
            <a:r>
              <a:t>① 用户在浏览器中操作 Vue 3 前端页面，通过 Vue Router 切换视图。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Microsoft YaHei"/>
              </a:defRPr>
            </a:pP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Microsoft YaHei"/>
              </a:defRPr>
            </a:pPr>
            <a:r>
              <a:t>② 前端通过 Axios 发送 HTTP 请求到 /api 路径，请求头携带 JWT token。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Microsoft YaHei"/>
              </a:defRPr>
            </a:pP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Microsoft YaHei"/>
              </a:defRPr>
            </a:pPr>
            <a:r>
              <a:t>③ Spring Boot 的 AuthInterceptor 拦截请求，解析 token 并写入 UserContext。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Microsoft YaHei"/>
              </a:defRPr>
            </a:pP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Microsoft YaHei"/>
              </a:defRPr>
            </a:pPr>
            <a:r>
              <a:t>④ Controller 接收请求后调用 Service 层处理业务逻辑。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Microsoft YaHei"/>
              </a:defRPr>
            </a:pP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Microsoft YaHei"/>
              </a:defRPr>
            </a:pPr>
            <a:r>
              <a:t>⑤ Service 通过 MyBatis-Plus Mapper 操作 MySQL 数据库。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Microsoft YaHei"/>
              </a:defRPr>
            </a:pP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Microsoft YaHei"/>
              </a:defRPr>
            </a:pPr>
            <a:r>
              <a:t>⑥ 后端统一返回 Result JSON 格式，前端通过响应拦截器统一处理。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36576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274320"/>
            <a:ext cx="1645920" cy="320040"/>
          </a:xfrm>
          <a:prstGeom prst="round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1000" b="1">
                <a:solidFill>
                  <a:srgbClr val="FFFFFF"/>
                </a:solidFill>
                <a:latin typeface="Microsoft YaHei"/>
              </a:defRPr>
            </a:pPr>
            <a:r>
              <a:t>02 总体设计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3152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860"/>
              </a:lnSpc>
              <a:spcAft>
                <a:spcPts val="200"/>
              </a:spcAft>
              <a:defRPr sz="2200" b="1">
                <a:solidFill>
                  <a:srgbClr val="2D2D2D"/>
                </a:solidFill>
                <a:latin typeface="Microsoft YaHei"/>
              </a:defRPr>
            </a:pPr>
            <a:r>
              <a:t>2.2 前端路由与页面结构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9728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0"/>
              </a:lnSpc>
              <a:spcAft>
                <a:spcPts val="200"/>
              </a:spcAft>
              <a:defRPr sz="1100" b="0">
                <a:solidFill>
                  <a:srgbClr val="666666"/>
                </a:solidFill>
                <a:latin typeface="Microsoft YaHei"/>
              </a:defRPr>
            </a:pPr>
            <a:r>
              <a:t>Vue Router 管理 9 条路由，区分公开页面、需登录页面和管理员页面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17320"/>
            <a:ext cx="10972800" cy="9144"/>
          </a:xfrm>
          <a:prstGeom prst="rect">
            <a:avLst/>
          </a:prstGeom>
          <a:solidFill>
            <a:srgbClr val="E8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40"/>
              </a:lnSpc>
              <a:spcAft>
                <a:spcPts val="200"/>
              </a:spcAft>
              <a:defRPr sz="800" b="0">
                <a:solidFill>
                  <a:srgbClr val="999999"/>
                </a:solidFill>
                <a:latin typeface="Microsoft YaHei"/>
              </a:defRPr>
            </a:pPr>
            <a:r>
              <a:t>9/27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645920"/>
          <a:ext cx="64008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560320"/>
                <a:gridCol w="182880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路径</a:t>
                      </a:r>
                    </a:p>
                  </a:txBody>
                  <a:tcPr>
                    <a:solidFill>
                      <a:srgbClr val="FF6B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页面名称</a:t>
                      </a:r>
                    </a:p>
                  </a:txBody>
                  <a:tcPr>
                    <a:solidFill>
                      <a:srgbClr val="FF6B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权限</a:t>
                      </a:r>
                    </a:p>
                  </a:txBody>
                  <a:tcPr>
                    <a:solidFill>
                      <a:srgbClr val="FF6B3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/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Home 首页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公开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/recipes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RecipeList 菜谱列表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公开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/recipe/:id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RecipeDetail 菜谱详情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公开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/fridge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FridgeFinder 冰箱寻菜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公开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/login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Login 登录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公开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/register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Register 注册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公开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/publish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Publish 发布菜谱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需登录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/profile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Profile 个人中心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需登录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/admin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Admin 后台管理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管理员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498079" y="164592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00"/>
              </a:lnSpc>
              <a:spcAft>
                <a:spcPts val="200"/>
              </a:spcAft>
              <a:defRPr sz="1200" b="1">
                <a:solidFill>
                  <a:srgbClr val="FF6B35"/>
                </a:solidFill>
                <a:latin typeface="Microsoft YaHei"/>
              </a:defRPr>
            </a:pPr>
            <a:r>
              <a:t>▎路由设计要点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Microsoft YaHei"/>
              </a:defRPr>
            </a:pP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Microsoft YaHei"/>
              </a:defRPr>
            </a:pPr>
            <a:r>
              <a:t>• 使用 Vue Router 4 动态路由匹配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Microsoft YaHei"/>
              </a:defRPr>
            </a:pPr>
            <a:r>
              <a:t>• keep-alive 缓存首页、列表页和冰箱寻菜页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Microsoft YaHei"/>
              </a:defRPr>
            </a:pPr>
            <a:r>
              <a:t>  （返回时保留滚动位置和搜索状态）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Microsoft YaHei"/>
              </a:defRPr>
            </a:pPr>
            <a:r>
              <a:t>• 详情页 /recipe/:id 按 ID 参数动态加载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Microsoft YaHei"/>
              </a:defRPr>
            </a:pPr>
            <a:r>
              <a:t>• 路由守卫根据 meta.auth 判断是否需要登录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Microsoft YaHei"/>
              </a:defRPr>
            </a:pPr>
            <a:r>
              <a:t>• 未登录自动跳转 /login，登录后回调原页面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Microsoft YaHei"/>
              </a:defRPr>
            </a:pPr>
            <a:r>
              <a:t>• 管理员路由 meta.admin 需校验角色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Microsoft YaHei"/>
              </a:defRPr>
            </a:pPr>
          </a:p>
          <a:p>
            <a:pPr>
              <a:lnSpc>
                <a:spcPts val="1500"/>
              </a:lnSpc>
              <a:spcAft>
                <a:spcPts val="200"/>
              </a:spcAft>
              <a:defRPr sz="1200" b="1">
                <a:solidFill>
                  <a:srgbClr val="FF6B35"/>
                </a:solidFill>
                <a:latin typeface="Microsoft YaHei"/>
              </a:defRPr>
            </a:pPr>
            <a:r>
              <a:t>▎组件结构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Microsoft YaHei"/>
              </a:defRPr>
            </a:pP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Microsoft YaHei"/>
              </a:defRPr>
            </a:pPr>
            <a:r>
              <a:t>App.vue → RouterView → 各页面组件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Microsoft YaHei"/>
              </a:defRPr>
            </a:pPr>
            <a:r>
              <a:t>├── recipeCard.vue（菜谱卡片）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Microsoft YaHei"/>
              </a:defRPr>
            </a:pPr>
            <a:r>
              <a:t>├── NavBar（顶部导航，App.vue 内嵌）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Microsoft YaHei"/>
              </a:defRPr>
            </a:pPr>
            <a:r>
              <a:t>└── Footer（底部信息，App.vue 内嵌）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36576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274320"/>
            <a:ext cx="1645920" cy="320040"/>
          </a:xfrm>
          <a:prstGeom prst="round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1000" b="1">
                <a:solidFill>
                  <a:srgbClr val="FFFFFF"/>
                </a:solidFill>
                <a:latin typeface="Microsoft YaHei"/>
              </a:defRPr>
            </a:pPr>
            <a:r>
              <a:t>02 总体设计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3152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860"/>
              </a:lnSpc>
              <a:spcAft>
                <a:spcPts val="200"/>
              </a:spcAft>
              <a:defRPr sz="2200" b="1">
                <a:solidFill>
                  <a:srgbClr val="2D2D2D"/>
                </a:solidFill>
                <a:latin typeface="Microsoft YaHei"/>
              </a:defRPr>
            </a:pPr>
            <a:r>
              <a:t>2.3 后端分层架构设计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9728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0"/>
              </a:lnSpc>
              <a:spcAft>
                <a:spcPts val="200"/>
              </a:spcAft>
              <a:defRPr sz="1100" b="0">
                <a:solidFill>
                  <a:srgbClr val="666666"/>
                </a:solidFill>
                <a:latin typeface="Microsoft YaHei"/>
              </a:defRPr>
            </a:pPr>
            <a:r>
              <a:t>Controller → Service → Mapper 三层，配合拦截器、统一响应和异常处理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17320"/>
            <a:ext cx="10972800" cy="9144"/>
          </a:xfrm>
          <a:prstGeom prst="rect">
            <a:avLst/>
          </a:prstGeom>
          <a:solidFill>
            <a:srgbClr val="E8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40"/>
              </a:lnSpc>
              <a:spcAft>
                <a:spcPts val="200"/>
              </a:spcAft>
              <a:defRPr sz="800" b="0">
                <a:solidFill>
                  <a:srgbClr val="999999"/>
                </a:solidFill>
                <a:latin typeface="Microsoft YaHei"/>
              </a:defRPr>
            </a:pPr>
            <a:r>
              <a:t>10/27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645920"/>
          <a:ext cx="109728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200400"/>
                <a:gridCol w="5943600"/>
              </a:tblGrid>
              <a:tr h="326571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层级</a:t>
                      </a:r>
                    </a:p>
                  </a:txBody>
                  <a:tcPr>
                    <a:solidFill>
                      <a:srgbClr val="FF6B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包路径</a:t>
                      </a:r>
                    </a:p>
                  </a:txBody>
                  <a:tcPr>
                    <a:solidFill>
                      <a:srgbClr val="FF6B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职责说明</a:t>
                      </a:r>
                    </a:p>
                  </a:txBody>
                  <a:tcPr>
                    <a:solidFill>
                      <a:srgbClr val="FF6B35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Controller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controller/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接收 HTTP 请求，参数校验，调用 Service，返回 Result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Service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service/ + service/impl/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业务逻辑处理，事务管理，调用 Mapper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Mapper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mapper/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MyBatis-Plus 数据访问，继承 BaseMapper&lt;T&gt;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Entity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entity/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实体类映射数据库表，使用 @TableName 注解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Config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config/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WebConfig 跨域与拦截器、MybatisPlusConfig 分页插件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</a:tr>
              <a:tr h="326574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Interceptor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interceptor/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AuthInterceptor 解析 JWT，写入 UserContext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4206240"/>
            <a:ext cx="5303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00"/>
              </a:lnSpc>
              <a:spcAft>
                <a:spcPts val="200"/>
              </a:spcAft>
              <a:defRPr sz="1200" b="1">
                <a:solidFill>
                  <a:srgbClr val="FF6B35"/>
                </a:solidFill>
                <a:latin typeface="Microsoft YaHei"/>
              </a:defRPr>
            </a:pPr>
            <a:r>
              <a:t>▎关键技术组件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Microsoft YaHei"/>
              </a:defRPr>
            </a:pP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Microsoft YaHei"/>
              </a:defRPr>
            </a:pPr>
            <a:r>
              <a:t>• JwtUtil：生成和解析 JWT 令牌，设置过期时间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Microsoft YaHei"/>
              </a:defRPr>
            </a:pPr>
            <a:r>
              <a:t>• UserContext：ThreadLocal 存储当前请求用户信息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Microsoft YaHei"/>
              </a:defRPr>
            </a:pPr>
            <a:r>
              <a:t>• AuthInterceptor：实现 HandlerInterceptor 接口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Microsoft YaHei"/>
              </a:defRPr>
            </a:pPr>
            <a:r>
              <a:t>  preHandle 中解析 token → 校验用户状态 → 写入上下文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Microsoft YaHei"/>
              </a:defRPr>
            </a:pPr>
            <a:r>
              <a:t>• GlobalExceptionHandler：@ControllerAdvice 全局异常捕获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Microsoft YaHei"/>
              </a:defRPr>
            </a:pPr>
            <a:r>
              <a:t>• Result / PageResult：统一响应格式 {code, msg, data}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Microsoft YaHei"/>
              </a:defRPr>
            </a:pPr>
            <a:r>
              <a:t>• MyBatis-Plus 分页插件：PaginationInnerInterceptor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420624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00"/>
              </a:lnSpc>
              <a:spcAft>
                <a:spcPts val="200"/>
              </a:spcAft>
              <a:defRPr sz="1200" b="1">
                <a:solidFill>
                  <a:srgbClr val="FF6B35"/>
                </a:solidFill>
                <a:latin typeface="Microsoft YaHei"/>
              </a:defRPr>
            </a:pPr>
            <a:r>
              <a:t>▎请求处理流程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Microsoft YaHei"/>
              </a:defRPr>
            </a:pP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Microsoft YaHei"/>
              </a:defRPr>
            </a:pPr>
            <a:r>
              <a:t>1. 客户端发送 HTTP 请求到 /api/**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Microsoft YaHei"/>
              </a:defRPr>
            </a:pPr>
            <a:r>
              <a:t>2. WebConfig 中 CORS 过滤器处理跨域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Microsoft YaHei"/>
              </a:defRPr>
            </a:pPr>
            <a:r>
              <a:t>3. AuthInterceptor 解析 JWT 令牌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Microsoft YaHei"/>
              </a:defRPr>
            </a:pPr>
            <a:r>
              <a:t>4. 校验用户状态（是否被禁用）和角色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Microsoft YaHei"/>
              </a:defRPr>
            </a:pPr>
            <a:r>
              <a:t>5. Controller 接收请求，参数绑定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Microsoft YaHei"/>
              </a:defRPr>
            </a:pPr>
            <a:r>
              <a:t>6. Service 执行业务逻辑（事务保护）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Microsoft YaHei"/>
              </a:defRPr>
            </a:pPr>
            <a:r>
              <a:t>7. Mapper 操作数据库，返回结果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Microsoft YaHei"/>
              </a:defRPr>
            </a:pPr>
            <a:r>
              <a:t>8. Controller 封装 Result 并返回 JSON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36576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274320"/>
            <a:ext cx="1645920" cy="320040"/>
          </a:xfrm>
          <a:prstGeom prst="round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1000" b="1">
                <a:solidFill>
                  <a:srgbClr val="FFFFFF"/>
                </a:solidFill>
                <a:latin typeface="Microsoft YaHei"/>
              </a:defRPr>
            </a:pPr>
            <a:r>
              <a:t>02 总体设计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3152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860"/>
              </a:lnSpc>
              <a:spcAft>
                <a:spcPts val="200"/>
              </a:spcAft>
              <a:defRPr sz="2200" b="1">
                <a:solidFill>
                  <a:srgbClr val="2D2D2D"/>
                </a:solidFill>
                <a:latin typeface="Microsoft YaHei"/>
              </a:defRPr>
            </a:pPr>
            <a:r>
              <a:t>2.4 技术选型与版本说明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9728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0"/>
              </a:lnSpc>
              <a:spcAft>
                <a:spcPts val="200"/>
              </a:spcAft>
              <a:defRPr sz="1100" b="0">
                <a:solidFill>
                  <a:srgbClr val="666666"/>
                </a:solidFill>
                <a:latin typeface="Microsoft YaHei"/>
              </a:defRPr>
            </a:pPr>
            <a:r>
              <a:t>前端、后端、数据库、工具链的完整技术栈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17320"/>
            <a:ext cx="10972800" cy="9144"/>
          </a:xfrm>
          <a:prstGeom prst="rect">
            <a:avLst/>
          </a:prstGeom>
          <a:solidFill>
            <a:srgbClr val="E8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40"/>
              </a:lnSpc>
              <a:spcAft>
                <a:spcPts val="200"/>
              </a:spcAft>
              <a:defRPr sz="800" b="0">
                <a:solidFill>
                  <a:srgbClr val="999999"/>
                </a:solidFill>
                <a:latin typeface="Microsoft YaHei"/>
              </a:defRPr>
            </a:pPr>
            <a:r>
              <a:t>11/27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645920"/>
          <a:ext cx="109728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828800"/>
                <a:gridCol w="1828800"/>
                <a:gridCol w="5943600"/>
              </a:tblGrid>
              <a:tr h="351692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类别</a:t>
                      </a:r>
                    </a:p>
                  </a:txBody>
                  <a:tcPr>
                    <a:solidFill>
                      <a:srgbClr val="FF6B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技术</a:t>
                      </a:r>
                    </a:p>
                  </a:txBody>
                  <a:tcPr>
                    <a:solidFill>
                      <a:srgbClr val="FF6B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版本</a:t>
                      </a:r>
                    </a:p>
                  </a:txBody>
                  <a:tcPr>
                    <a:solidFill>
                      <a:srgbClr val="FF6B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用途说明</a:t>
                      </a:r>
                    </a:p>
                  </a:txBody>
                  <a:tcPr>
                    <a:solidFill>
                      <a:srgbClr val="FF6B35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前端框架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Vue 3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3.5+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Composition API 开发，组件化构建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构建工具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Vite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6.x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极速热更新，ESM 原生支持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UI 组件库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Element Plus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2.x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企业级组件，统一交互风格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状态管理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Pinia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2.x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轻量状态管理，存储用户登录态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路由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Vue Router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4.x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SPA 路由管理，导航守卫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HTTP 客户端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Axios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1.x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请求封装，拦截器统一处理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后端框架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Spring Boot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3.3.7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Java 后端，自动配置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ORM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MyBatis-Plus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3.5.9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简化 CRUD，分页插件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安全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JWT (jjwt)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0.12.6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无状态认证，令牌校验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加密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BCrypt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内置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密码单向加密存储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数据库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MySQL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8.4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关系型数据库，InnoDB 引擎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</a:tr>
              <a:tr h="351696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开发工具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VS Code / IDEA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前端 / 后端开发环境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2286000"/>
            <a:ext cx="73152" cy="1645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28600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5460"/>
              </a:lnSpc>
              <a:spcAft>
                <a:spcPts val="200"/>
              </a:spcAft>
              <a:defRPr sz="4200" b="1">
                <a:solidFill>
                  <a:srgbClr val="FF6B35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88036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160"/>
              </a:lnSpc>
              <a:spcAft>
                <a:spcPts val="200"/>
              </a:spcAft>
              <a:defRPr sz="3200" b="1">
                <a:solidFill>
                  <a:srgbClr val="FFFFFF"/>
                </a:solidFill>
                <a:latin typeface="Microsoft YaHei"/>
              </a:defRPr>
            </a:pPr>
            <a:r>
              <a:t>数据库设计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6118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20"/>
              </a:lnSpc>
              <a:spcAft>
                <a:spcPts val="200"/>
              </a:spcAft>
              <a:defRPr sz="1400" b="0">
                <a:solidFill>
                  <a:srgbClr val="999999"/>
                </a:solidFill>
                <a:latin typeface="Microsoft YaHei"/>
              </a:defRPr>
            </a:pPr>
            <a:r>
              <a:t>E-R 图、关系模式与核心数据表字段结构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5029200"/>
            <a:ext cx="9601200" cy="13716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212080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170"/>
              </a:lnSpc>
              <a:spcAft>
                <a:spcPts val="200"/>
              </a:spcAft>
              <a:defRPr sz="900" b="0">
                <a:solidFill>
                  <a:srgbClr val="999999"/>
                </a:solidFill>
                <a:latin typeface="Microsoft YaHei"/>
              </a:defRPr>
            </a:pPr>
            <a:r>
              <a:t>基于 Vue + Spring Boot + MySQL 的菜谱分享与管理系统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40"/>
              </a:lnSpc>
              <a:spcAft>
                <a:spcPts val="200"/>
              </a:spcAft>
              <a:defRPr sz="800" b="0">
                <a:solidFill>
                  <a:srgbClr val="999999"/>
                </a:solidFill>
                <a:latin typeface="Microsoft YaHei"/>
              </a:defRPr>
            </a:pPr>
            <a:r>
              <a:t>12/27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36576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274320"/>
            <a:ext cx="1645920" cy="320040"/>
          </a:xfrm>
          <a:prstGeom prst="round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1000" b="1">
                <a:solidFill>
                  <a:srgbClr val="FFFFFF"/>
                </a:solidFill>
                <a:latin typeface="Microsoft YaHei"/>
              </a:defRPr>
            </a:pPr>
            <a:r>
              <a:t>03 数据库设计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3152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860"/>
              </a:lnSpc>
              <a:spcAft>
                <a:spcPts val="200"/>
              </a:spcAft>
              <a:defRPr sz="2200" b="1">
                <a:solidFill>
                  <a:srgbClr val="2D2D2D"/>
                </a:solidFill>
                <a:latin typeface="Microsoft YaHei"/>
              </a:defRPr>
            </a:pPr>
            <a:r>
              <a:t>3.1 数据库 E-R 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9728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0"/>
              </a:lnSpc>
              <a:spcAft>
                <a:spcPts val="200"/>
              </a:spcAft>
              <a:defRPr sz="1100" b="0">
                <a:solidFill>
                  <a:srgbClr val="666666"/>
                </a:solidFill>
                <a:latin typeface="Microsoft YaHei"/>
              </a:defRPr>
            </a:pPr>
            <a:r>
              <a:t>7 张核心表及实体间关系：用户、分类、菜谱、食材、步骤、收藏、评论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17320"/>
            <a:ext cx="10972800" cy="9144"/>
          </a:xfrm>
          <a:prstGeom prst="rect">
            <a:avLst/>
          </a:prstGeom>
          <a:solidFill>
            <a:srgbClr val="E8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40"/>
              </a:lnSpc>
              <a:spcAft>
                <a:spcPts val="200"/>
              </a:spcAft>
              <a:defRPr sz="800" b="0">
                <a:solidFill>
                  <a:srgbClr val="999999"/>
                </a:solidFill>
                <a:latin typeface="Microsoft YaHei"/>
              </a:defRPr>
            </a:pPr>
            <a:r>
              <a:t>13/27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64592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00"/>
              </a:lnSpc>
              <a:spcAft>
                <a:spcPts val="200"/>
              </a:spcAft>
              <a:defRPr sz="1300" b="1">
                <a:solidFill>
                  <a:srgbClr val="FF6B35"/>
                </a:solidFill>
                <a:latin typeface="Consolas"/>
              </a:defRPr>
            </a:pPr>
            <a:r>
              <a:t>▎实体关系说明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Consolas"/>
              </a:defRPr>
            </a:pP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Consolas"/>
              </a:defRPr>
            </a:pPr>
            <a:r>
              <a:t>┌─────────┐          ┌──────────────┐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Consolas"/>
              </a:defRPr>
            </a:pPr>
            <a:r>
              <a:t>│  user   │ 1 ──── N │   recipe     │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Consolas"/>
              </a:defRPr>
            </a:pPr>
            <a:r>
              <a:t>│ 用户表  │          │   菜谱表      │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Consolas"/>
              </a:defRPr>
            </a:pPr>
            <a:r>
              <a:t>└─────────┘          └──┬───┬───┬──┘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Consolas"/>
              </a:defRPr>
            </a:pPr>
            <a:r>
              <a:t>                        │   │   │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Consolas"/>
              </a:defRPr>
            </a:pPr>
            <a:r>
              <a:t>             ┌──────────┘   │   └──────────┐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Consolas"/>
              </a:defRPr>
            </a:pPr>
            <a:r>
              <a:t>             │ 1:N          │ 1:N          │ 1:N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Consolas"/>
              </a:defRPr>
            </a:pPr>
            <a:r>
              <a:t>      ┌──────┴──────┐ ┌────┴─────┐ ┌──────┴──────┐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Consolas"/>
              </a:defRPr>
            </a:pPr>
            <a:r>
              <a:t>      │recipe_ingred │ │recipe_step│ │  favorite   │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Consolas"/>
              </a:defRPr>
            </a:pPr>
            <a:r>
              <a:t>      │  食材明细    │ │  步骤明细 │ │   收藏表     │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Consolas"/>
              </a:defRPr>
            </a:pPr>
            <a:r>
              <a:t>      └─────────────┘ └──────────┘ └──────┬──────┘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Consolas"/>
              </a:defRPr>
            </a:pPr>
            <a:r>
              <a:t>                                          │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Consolas"/>
              </a:defRPr>
            </a:pPr>
            <a:r>
              <a:t>                              ┌──────┐    │ N:1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Consolas"/>
              </a:defRPr>
            </a:pPr>
            <a:r>
              <a:t>                              │category│   │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Consolas"/>
              </a:defRPr>
            </a:pPr>
            <a:r>
              <a:t>                              │ 分类表 │   │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Consolas"/>
              </a:defRPr>
            </a:pPr>
            <a:r>
              <a:t>                              └──────┘   │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Consolas"/>
              </a:defRPr>
            </a:pPr>
            <a:r>
              <a:t>                                         │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Consolas"/>
              </a:defRPr>
            </a:pPr>
            <a:r>
              <a:t>┌─────────┐          ┌──────────────┐    │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Consolas"/>
              </a:defRPr>
            </a:pPr>
            <a:r>
              <a:t>│  user   │ 1 ──── N │   comment    │◄───┘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Consolas"/>
              </a:defRPr>
            </a:pPr>
            <a:r>
              <a:t>│ 用户表  │          │   评论表      │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Consolas"/>
              </a:defRPr>
            </a:pPr>
            <a:r>
              <a:t>└─────────┘          └──────┬───────┘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Consolas"/>
              </a:defRPr>
            </a:pPr>
            <a:r>
              <a:t>                            │ N:1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Consolas"/>
              </a:defRPr>
            </a:pPr>
            <a:r>
              <a:t>                     ┌──────┴──────┐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Consolas"/>
              </a:defRPr>
            </a:pPr>
            <a:r>
              <a:t>                     │   recipe    │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Consolas"/>
              </a:defRPr>
            </a:pPr>
            <a:r>
              <a:t>                     │   菜谱表     │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Consolas"/>
              </a:defRPr>
            </a:pPr>
            <a:r>
              <a:t>                     └─────────────┘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164592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00"/>
              </a:lnSpc>
              <a:spcAft>
                <a:spcPts val="200"/>
              </a:spcAft>
              <a:defRPr sz="1300" b="1">
                <a:solidFill>
                  <a:srgbClr val="FF6B35"/>
                </a:solidFill>
                <a:latin typeface="Microsoft YaHei"/>
              </a:defRPr>
            </a:pPr>
            <a:r>
              <a:t>▎核心关系总结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Microsoft YaHei"/>
              </a:defRPr>
            </a:pPr>
          </a:p>
          <a:p>
            <a:pPr>
              <a:lnSpc>
                <a:spcPts val="1500"/>
              </a:lnSpc>
              <a:spcAft>
                <a:spcPts val="200"/>
              </a:spcAft>
              <a:defRPr sz="1100" b="1">
                <a:solidFill>
                  <a:srgbClr val="2D2D2D"/>
                </a:solidFill>
                <a:latin typeface="Microsoft YaHei"/>
              </a:defRPr>
            </a:pPr>
            <a:r>
              <a:t>user → recipe（1:N）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Microsoft YaHei"/>
              </a:defRPr>
            </a:pPr>
            <a:r>
              <a:t>一个用户可发布多个菜谱，通过 user_id 外键关联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Microsoft YaHei"/>
              </a:defRPr>
            </a:pPr>
          </a:p>
          <a:p>
            <a:pPr>
              <a:lnSpc>
                <a:spcPts val="1500"/>
              </a:lnSpc>
              <a:spcAft>
                <a:spcPts val="200"/>
              </a:spcAft>
              <a:defRPr sz="1100" b="1">
                <a:solidFill>
                  <a:srgbClr val="2D2D2D"/>
                </a:solidFill>
                <a:latin typeface="Microsoft YaHei"/>
              </a:defRPr>
            </a:pPr>
            <a:r>
              <a:t>category → recipe（1:N）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Microsoft YaHei"/>
              </a:defRPr>
            </a:pPr>
            <a:r>
              <a:t>一个分类下包含多个菜谱，通过 category_id 关联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Microsoft YaHei"/>
              </a:defRPr>
            </a:pPr>
          </a:p>
          <a:p>
            <a:pPr>
              <a:lnSpc>
                <a:spcPts val="1500"/>
              </a:lnSpc>
              <a:spcAft>
                <a:spcPts val="200"/>
              </a:spcAft>
              <a:defRPr sz="1100" b="1">
                <a:solidFill>
                  <a:srgbClr val="2D2D2D"/>
                </a:solidFill>
                <a:latin typeface="Microsoft YaHei"/>
              </a:defRPr>
            </a:pPr>
            <a:r>
              <a:t>recipe → recipe_ingredient（1:N）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Microsoft YaHei"/>
              </a:defRPr>
            </a:pPr>
            <a:r>
              <a:t>一个菜谱包含多个食材明细，通过 recipe_id 关联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Microsoft YaHei"/>
              </a:defRPr>
            </a:pPr>
          </a:p>
          <a:p>
            <a:pPr>
              <a:lnSpc>
                <a:spcPts val="1500"/>
              </a:lnSpc>
              <a:spcAft>
                <a:spcPts val="200"/>
              </a:spcAft>
              <a:defRPr sz="1100" b="1">
                <a:solidFill>
                  <a:srgbClr val="2D2D2D"/>
                </a:solidFill>
                <a:latin typeface="Microsoft YaHei"/>
              </a:defRPr>
            </a:pPr>
            <a:r>
              <a:t>recipe → recipe_step（1:N）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Microsoft YaHei"/>
              </a:defRPr>
            </a:pPr>
            <a:r>
              <a:t>一个菜谱包含多个步骤，按 sort_order 排序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Microsoft YaHei"/>
              </a:defRPr>
            </a:pPr>
          </a:p>
          <a:p>
            <a:pPr>
              <a:lnSpc>
                <a:spcPts val="1500"/>
              </a:lnSpc>
              <a:spcAft>
                <a:spcPts val="200"/>
              </a:spcAft>
              <a:defRPr sz="1100" b="1">
                <a:solidFill>
                  <a:srgbClr val="2D2D2D"/>
                </a:solidFill>
                <a:latin typeface="Microsoft YaHei"/>
              </a:defRPr>
            </a:pPr>
            <a:r>
              <a:t>user + recipe → favorite（联合唯一）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Microsoft YaHei"/>
              </a:defRPr>
            </a:pPr>
            <a:r>
              <a:t>同一用户对同一菜谱只能收藏一次，user_id + recipe_id 联合唯一约束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Microsoft YaHei"/>
              </a:defRPr>
            </a:pPr>
          </a:p>
          <a:p>
            <a:pPr>
              <a:lnSpc>
                <a:spcPts val="1500"/>
              </a:lnSpc>
              <a:spcAft>
                <a:spcPts val="200"/>
              </a:spcAft>
              <a:defRPr sz="1100" b="1">
                <a:solidFill>
                  <a:srgbClr val="2D2D2D"/>
                </a:solidFill>
                <a:latin typeface="Microsoft YaHei"/>
              </a:defRPr>
            </a:pPr>
            <a:r>
              <a:t>recipe → comment（1:N）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Microsoft YaHei"/>
              </a:defRPr>
            </a:pPr>
            <a:r>
              <a:t>一个菜谱有多条评论，通过 recipe_id 关联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Microsoft YaHei"/>
              </a:defRPr>
            </a:pPr>
          </a:p>
          <a:p>
            <a:pPr>
              <a:lnSpc>
                <a:spcPts val="1500"/>
              </a:lnSpc>
              <a:spcAft>
                <a:spcPts val="200"/>
              </a:spcAft>
              <a:defRPr sz="1100" b="1">
                <a:solidFill>
                  <a:srgbClr val="2D2D2D"/>
                </a:solidFill>
                <a:latin typeface="Microsoft YaHei"/>
              </a:defRPr>
            </a:pPr>
            <a:r>
              <a:t>user → comment（1:N）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Microsoft YaHei"/>
              </a:defRPr>
            </a:pPr>
            <a:r>
              <a:t>一个用户可发表多条评论，通过 user_id 关联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36576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274320"/>
            <a:ext cx="1645920" cy="320040"/>
          </a:xfrm>
          <a:prstGeom prst="round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1000" b="1">
                <a:solidFill>
                  <a:srgbClr val="FFFFFF"/>
                </a:solidFill>
                <a:latin typeface="Microsoft YaHei"/>
              </a:defRPr>
            </a:pPr>
            <a:r>
              <a:t>03 数据库设计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3152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860"/>
              </a:lnSpc>
              <a:spcAft>
                <a:spcPts val="200"/>
              </a:spcAft>
              <a:defRPr sz="2200" b="1">
                <a:solidFill>
                  <a:srgbClr val="2D2D2D"/>
                </a:solidFill>
                <a:latin typeface="Microsoft YaHei"/>
              </a:defRPr>
            </a:pPr>
            <a:r>
              <a:t>3.2 核心数据表字段说明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9728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0"/>
              </a:lnSpc>
              <a:spcAft>
                <a:spcPts val="200"/>
              </a:spcAft>
              <a:defRPr sz="1100" b="0">
                <a:solidFill>
                  <a:srgbClr val="666666"/>
                </a:solidFill>
                <a:latin typeface="Microsoft YaHei"/>
              </a:defRPr>
            </a:pPr>
            <a:r>
              <a:t>展示 user、recipe、category 三张主表的字段设计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17320"/>
            <a:ext cx="10972800" cy="9144"/>
          </a:xfrm>
          <a:prstGeom prst="rect">
            <a:avLst/>
          </a:prstGeom>
          <a:solidFill>
            <a:srgbClr val="E8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40"/>
              </a:lnSpc>
              <a:spcAft>
                <a:spcPts val="200"/>
              </a:spcAft>
              <a:defRPr sz="800" b="0">
                <a:solidFill>
                  <a:srgbClr val="999999"/>
                </a:solidFill>
                <a:latin typeface="Microsoft YaHei"/>
              </a:defRPr>
            </a:pPr>
            <a:r>
              <a:t>14/27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645920"/>
          <a:ext cx="109728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4114800"/>
                <a:gridCol w="1828800"/>
                <a:gridCol w="3657600"/>
              </a:tblGrid>
              <a:tr h="57150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表名</a:t>
                      </a:r>
                    </a:p>
                  </a:txBody>
                  <a:tcPr>
                    <a:solidFill>
                      <a:srgbClr val="FF6B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字段</a:t>
                      </a:r>
                    </a:p>
                  </a:txBody>
                  <a:tcPr>
                    <a:solidFill>
                      <a:srgbClr val="FF6B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类型</a:t>
                      </a:r>
                    </a:p>
                  </a:txBody>
                  <a:tcPr>
                    <a:solidFill>
                      <a:srgbClr val="FF6B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说明</a:t>
                      </a:r>
                    </a:p>
                  </a:txBody>
                  <a:tcPr>
                    <a:solidFill>
                      <a:srgbClr val="FF6B35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user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id, username, password, nickname, avatar, bio, role, status, create_time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BIGINT/VARCHAR/INT/DATETIME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用户表，密码 BCrypt 加密存储，role 区分普通用户/管理员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category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id, name, sort_order, create_time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BIGINT/VARCHAR/INT/DATETIME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菜谱分类表，如家常菜、川菜、甜品等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recipe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id, title, intro, cover_image, category_id, user_id, difficulty, cook_time, tips, status, like_count, comment_count, create_time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BIGINT/VARCHAR/INT/DATETIME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菜谱主表，关联 category 和 user，冗余统计字段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recipe_ingredient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id, recipe_id, name, amount, sort_order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BIGINT/VARCHAR/INT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菜谱食材明细表，按 sort_order 排序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recipe_step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id, recipe_id, content, image, sort_order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BIGINT/VARCHAR/INT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菜谱步骤表，每步可配图片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favorite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id, user_id, recipe_id, create_time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BIGINT/DATETIME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收藏表，user_id+recipe_id 联合唯一索引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comment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id, recipe_id, user_id, content, create_time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BIGINT/VARCHAR/DATETIME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评论表，关联 recipe 和 user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2286000"/>
            <a:ext cx="73152" cy="1645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28600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5460"/>
              </a:lnSpc>
              <a:spcAft>
                <a:spcPts val="200"/>
              </a:spcAft>
              <a:defRPr sz="4200" b="1">
                <a:solidFill>
                  <a:srgbClr val="FF6B35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88036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160"/>
              </a:lnSpc>
              <a:spcAft>
                <a:spcPts val="200"/>
              </a:spcAft>
              <a:defRPr sz="3200" b="1">
                <a:solidFill>
                  <a:srgbClr val="FFFFFF"/>
                </a:solidFill>
                <a:latin typeface="Microsoft YaHei"/>
              </a:defRPr>
            </a:pPr>
            <a:r>
              <a:t>系统详细设计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6118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20"/>
              </a:lnSpc>
              <a:spcAft>
                <a:spcPts val="200"/>
              </a:spcAft>
              <a:defRPr sz="1400" b="0">
                <a:solidFill>
                  <a:srgbClr val="999999"/>
                </a:solidFill>
                <a:latin typeface="Microsoft YaHei"/>
              </a:defRPr>
            </a:pPr>
            <a:r>
              <a:t>核心业务流程、登录认证、冰箱寻菜与 API 接口设计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5029200"/>
            <a:ext cx="9601200" cy="13716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212080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170"/>
              </a:lnSpc>
              <a:spcAft>
                <a:spcPts val="200"/>
              </a:spcAft>
              <a:defRPr sz="900" b="0">
                <a:solidFill>
                  <a:srgbClr val="999999"/>
                </a:solidFill>
                <a:latin typeface="Microsoft YaHei"/>
              </a:defRPr>
            </a:pPr>
            <a:r>
              <a:t>基于 Vue + Spring Boot + MySQL 的菜谱分享与管理系统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40"/>
              </a:lnSpc>
              <a:spcAft>
                <a:spcPts val="200"/>
              </a:spcAft>
              <a:defRPr sz="800" b="0">
                <a:solidFill>
                  <a:srgbClr val="999999"/>
                </a:solidFill>
                <a:latin typeface="Microsoft YaHei"/>
              </a:defRPr>
            </a:pPr>
            <a:r>
              <a:t>15/27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36576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274320"/>
            <a:ext cx="1645920" cy="320040"/>
          </a:xfrm>
          <a:prstGeom prst="round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1000" b="1">
                <a:solidFill>
                  <a:srgbClr val="FFFFFF"/>
                </a:solidFill>
                <a:latin typeface="Microsoft YaHei"/>
              </a:defRPr>
            </a:pPr>
            <a:r>
              <a:t>04 详细设计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3152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860"/>
              </a:lnSpc>
              <a:spcAft>
                <a:spcPts val="200"/>
              </a:spcAft>
              <a:defRPr sz="2200" b="1">
                <a:solidFill>
                  <a:srgbClr val="2D2D2D"/>
                </a:solidFill>
                <a:latin typeface="Microsoft YaHei"/>
              </a:defRPr>
            </a:pPr>
            <a:r>
              <a:t>4.1 登录认证流程设计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9728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0"/>
              </a:lnSpc>
              <a:spcAft>
                <a:spcPts val="200"/>
              </a:spcAft>
              <a:defRPr sz="1100" b="0">
                <a:solidFill>
                  <a:srgbClr val="666666"/>
                </a:solidFill>
                <a:latin typeface="Microsoft YaHei"/>
              </a:defRPr>
            </a:pPr>
            <a:r>
              <a:t>基于 JWT 的无状态认证机制，结合拦截器和 ThreadLocal 实现用户上下文传递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17320"/>
            <a:ext cx="10972800" cy="9144"/>
          </a:xfrm>
          <a:prstGeom prst="rect">
            <a:avLst/>
          </a:prstGeom>
          <a:solidFill>
            <a:srgbClr val="E8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40"/>
              </a:lnSpc>
              <a:spcAft>
                <a:spcPts val="200"/>
              </a:spcAft>
              <a:defRPr sz="800" b="0">
                <a:solidFill>
                  <a:srgbClr val="999999"/>
                </a:solidFill>
                <a:latin typeface="Microsoft YaHei"/>
              </a:defRPr>
            </a:pPr>
            <a:r>
              <a:t>16/27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00"/>
              </a:lnSpc>
              <a:spcAft>
                <a:spcPts val="200"/>
              </a:spcAft>
              <a:defRPr sz="1300" b="1">
                <a:solidFill>
                  <a:srgbClr val="FF6B35"/>
                </a:solidFill>
                <a:latin typeface="Microsoft YaHei"/>
              </a:defRPr>
            </a:pPr>
            <a:r>
              <a:t>▎登录流程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Microsoft YaHei"/>
              </a:defRPr>
            </a:pPr>
          </a:p>
          <a:p>
            <a:pPr>
              <a:lnSpc>
                <a:spcPts val="1500"/>
              </a:lnSpc>
              <a:spcAft>
                <a:spcPts val="200"/>
              </a:spcAft>
              <a:defRPr sz="1100" b="1">
                <a:solidFill>
                  <a:srgbClr val="2D2D2D"/>
                </a:solidFill>
                <a:latin typeface="Microsoft YaHei"/>
              </a:defRPr>
            </a:pPr>
            <a:r>
              <a:t>① 用户输入用户名和密码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Microsoft YaHei"/>
              </a:defRPr>
            </a:pPr>
            <a:r>
              <a:t>前端表单校验 → 发送 POST /api/user/login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Microsoft YaHei"/>
              </a:defRPr>
            </a:pPr>
          </a:p>
          <a:p>
            <a:pPr>
              <a:lnSpc>
                <a:spcPts val="1500"/>
              </a:lnSpc>
              <a:spcAft>
                <a:spcPts val="200"/>
              </a:spcAft>
              <a:defRPr sz="1100" b="1">
                <a:solidFill>
                  <a:srgbClr val="2D2D2D"/>
                </a:solidFill>
                <a:latin typeface="Microsoft YaHei"/>
              </a:defRPr>
            </a:pPr>
            <a:r>
              <a:t>② 后端验证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Microsoft YaHei"/>
              </a:defRPr>
            </a:pPr>
            <a:r>
              <a:t>UserService 查询用户 → BCrypt 校验密码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Microsoft YaHei"/>
              </a:defRPr>
            </a:pPr>
            <a:r>
              <a:t>→ 检查用户状态（是否被禁用）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Microsoft YaHei"/>
              </a:defRPr>
            </a:pPr>
          </a:p>
          <a:p>
            <a:pPr>
              <a:lnSpc>
                <a:spcPts val="1500"/>
              </a:lnSpc>
              <a:spcAft>
                <a:spcPts val="200"/>
              </a:spcAft>
              <a:defRPr sz="1100" b="1">
                <a:solidFill>
                  <a:srgbClr val="2D2D2D"/>
                </a:solidFill>
                <a:latin typeface="Microsoft YaHei"/>
              </a:defRPr>
            </a:pPr>
            <a:r>
              <a:t>③ 生成 JWT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Microsoft YaHei"/>
              </a:defRPr>
            </a:pPr>
            <a:r>
              <a:t>JwtUtil 生成 token，包含 userId 和 role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Microsoft YaHei"/>
              </a:defRPr>
            </a:pPr>
            <a:r>
              <a:t>设置过期时间，返回给前端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Microsoft YaHei"/>
              </a:defRPr>
            </a:pPr>
          </a:p>
          <a:p>
            <a:pPr>
              <a:lnSpc>
                <a:spcPts val="1500"/>
              </a:lnSpc>
              <a:spcAft>
                <a:spcPts val="200"/>
              </a:spcAft>
              <a:defRPr sz="1100" b="1">
                <a:solidFill>
                  <a:srgbClr val="2D2D2D"/>
                </a:solidFill>
                <a:latin typeface="Microsoft YaHei"/>
              </a:defRPr>
            </a:pPr>
            <a:r>
              <a:t>④ 前端存储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Microsoft YaHei"/>
              </a:defRPr>
            </a:pPr>
            <a:r>
              <a:t>Pinia store 保存 token、userId、role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Microsoft YaHei"/>
              </a:defRPr>
            </a:pPr>
            <a:r>
              <a:t>localStorage 持久化，页面刷新不丢失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Microsoft YaHei"/>
              </a:defRPr>
            </a:pPr>
          </a:p>
          <a:p>
            <a:pPr>
              <a:lnSpc>
                <a:spcPts val="1500"/>
              </a:lnSpc>
              <a:spcAft>
                <a:spcPts val="200"/>
              </a:spcAft>
              <a:defRPr sz="1200" b="1">
                <a:solidFill>
                  <a:srgbClr val="FF6B35"/>
                </a:solidFill>
                <a:latin typeface="Microsoft YaHei"/>
              </a:defRPr>
            </a:pPr>
            <a:r>
              <a:t>▎请求拦截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Microsoft YaHei"/>
              </a:defRPr>
            </a:pPr>
          </a:p>
          <a:p>
            <a:pPr>
              <a:lnSpc>
                <a:spcPts val="1500"/>
              </a:lnSpc>
              <a:spcAft>
                <a:spcPts val="200"/>
              </a:spcAft>
              <a:defRPr sz="1100" b="1">
                <a:solidFill>
                  <a:srgbClr val="2D2D2D"/>
                </a:solidFill>
                <a:latin typeface="Microsoft YaHei"/>
              </a:defRPr>
            </a:pPr>
            <a:r>
              <a:t>⑤ 每次请求携带 token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Microsoft YaHei"/>
              </a:defRPr>
            </a:pPr>
            <a:r>
              <a:t>Axios 请求拦截器在 Authorization 头添加 Bearer token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Microsoft YaHei"/>
              </a:defRPr>
            </a:pPr>
          </a:p>
          <a:p>
            <a:pPr>
              <a:lnSpc>
                <a:spcPts val="1500"/>
              </a:lnSpc>
              <a:spcAft>
                <a:spcPts val="200"/>
              </a:spcAft>
              <a:defRPr sz="1100" b="1">
                <a:solidFill>
                  <a:srgbClr val="2D2D2D"/>
                </a:solidFill>
                <a:latin typeface="Microsoft YaHei"/>
              </a:defRPr>
            </a:pPr>
            <a:r>
              <a:t>⑥ AuthInterceptor 解析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Microsoft YaHei"/>
              </a:defRPr>
            </a:pPr>
            <a:r>
              <a:t>解析 JWT → 查询用户 → 校验 status → 写入 UserContext（ThreadLocal）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Microsoft YaHei"/>
              </a:defRPr>
            </a:pPr>
            <a:r>
              <a:t>需要 ADMIN 角色的接口额外校验 role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Microsoft YaHei"/>
              </a:defRPr>
            </a:pPr>
          </a:p>
          <a:p>
            <a:pPr>
              <a:lnSpc>
                <a:spcPts val="1500"/>
              </a:lnSpc>
              <a:spcAft>
                <a:spcPts val="200"/>
              </a:spcAft>
              <a:defRPr sz="1100" b="1">
                <a:solidFill>
                  <a:srgbClr val="2D2D2D"/>
                </a:solidFill>
                <a:latin typeface="Microsoft YaHei"/>
              </a:defRPr>
            </a:pPr>
            <a:r>
              <a:t>⑦ 请求结束后清理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Microsoft YaHei"/>
              </a:defRPr>
            </a:pPr>
            <a:r>
              <a:t>afterCompletion 中清除 ThreadLocal，防止内存泄漏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0" y="1645920"/>
            <a:ext cx="5029200" cy="4572000"/>
          </a:xfrm>
          <a:prstGeom prst="roundRect">
            <a:avLst/>
          </a:prstGeom>
          <a:solidFill>
            <a:srgbClr val="FFF0E5"/>
          </a:solidFill>
          <a:ln w="12700">
            <a:solidFill>
              <a:srgbClr val="E8E0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0" y="1828800"/>
            <a:ext cx="4572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350"/>
              </a:lnSpc>
              <a:spcAft>
                <a:spcPts val="200"/>
              </a:spcAft>
              <a:defRPr sz="1200" b="1">
                <a:solidFill>
                  <a:srgbClr val="FF6B35"/>
                </a:solidFill>
                <a:latin typeface="Consolas"/>
              </a:defRPr>
            </a:pPr>
            <a:r>
              <a:t>▎流程图</a:t>
            </a:r>
          </a:p>
          <a:p>
            <a:pPr>
              <a:lnSpc>
                <a:spcPts val="1350"/>
              </a:lnSpc>
              <a:spcAft>
                <a:spcPts val="200"/>
              </a:spcAft>
              <a:defRPr sz="900">
                <a:solidFill>
                  <a:srgbClr val="2D2D2D"/>
                </a:solidFill>
                <a:latin typeface="Consolas"/>
              </a:defRPr>
            </a:pPr>
          </a:p>
          <a:p>
            <a:pPr>
              <a:lnSpc>
                <a:spcPts val="1350"/>
              </a:lnSpc>
              <a:spcAft>
                <a:spcPts val="200"/>
              </a:spcAft>
              <a:defRPr sz="900">
                <a:solidFill>
                  <a:srgbClr val="2D2D2D"/>
                </a:solidFill>
                <a:latin typeface="Consolas"/>
              </a:defRPr>
            </a:pPr>
            <a:r>
              <a:t>用户输入账号密码</a:t>
            </a:r>
          </a:p>
          <a:p>
            <a:pPr>
              <a:lnSpc>
                <a:spcPts val="1350"/>
              </a:lnSpc>
              <a:spcAft>
                <a:spcPts val="200"/>
              </a:spcAft>
              <a:defRPr sz="900">
                <a:solidFill>
                  <a:srgbClr val="2D2D2D"/>
                </a:solidFill>
                <a:latin typeface="Consolas"/>
              </a:defRPr>
            </a:pPr>
            <a:r>
              <a:t>       │</a:t>
            </a:r>
          </a:p>
          <a:p>
            <a:pPr>
              <a:lnSpc>
                <a:spcPts val="1350"/>
              </a:lnSpc>
              <a:spcAft>
                <a:spcPts val="200"/>
              </a:spcAft>
              <a:defRPr sz="900">
                <a:solidFill>
                  <a:srgbClr val="2D2D2D"/>
                </a:solidFill>
                <a:latin typeface="Consolas"/>
              </a:defRPr>
            </a:pPr>
            <a:r>
              <a:t>       ▼</a:t>
            </a:r>
          </a:p>
          <a:p>
            <a:pPr>
              <a:lnSpc>
                <a:spcPts val="1350"/>
              </a:lnSpc>
              <a:spcAft>
                <a:spcPts val="200"/>
              </a:spcAft>
              <a:defRPr sz="900">
                <a:solidFill>
                  <a:srgbClr val="2D2D2D"/>
                </a:solidFill>
                <a:latin typeface="Consolas"/>
              </a:defRPr>
            </a:pPr>
            <a:r>
              <a:t>前端 POST /api/user/login</a:t>
            </a:r>
          </a:p>
          <a:p>
            <a:pPr>
              <a:lnSpc>
                <a:spcPts val="1350"/>
              </a:lnSpc>
              <a:spcAft>
                <a:spcPts val="200"/>
              </a:spcAft>
              <a:defRPr sz="900">
                <a:solidFill>
                  <a:srgbClr val="2D2D2D"/>
                </a:solidFill>
                <a:latin typeface="Consolas"/>
              </a:defRPr>
            </a:pPr>
            <a:r>
              <a:t>       │</a:t>
            </a:r>
          </a:p>
          <a:p>
            <a:pPr>
              <a:lnSpc>
                <a:spcPts val="1350"/>
              </a:lnSpc>
              <a:spcAft>
                <a:spcPts val="200"/>
              </a:spcAft>
              <a:defRPr sz="900">
                <a:solidFill>
                  <a:srgbClr val="2D2D2D"/>
                </a:solidFill>
                <a:latin typeface="Consolas"/>
              </a:defRPr>
            </a:pPr>
            <a:r>
              <a:t>       ▼</a:t>
            </a:r>
          </a:p>
          <a:p>
            <a:pPr>
              <a:lnSpc>
                <a:spcPts val="1350"/>
              </a:lnSpc>
              <a:spcAft>
                <a:spcPts val="200"/>
              </a:spcAft>
              <a:defRPr sz="900">
                <a:solidFill>
                  <a:srgbClr val="2D2D2D"/>
                </a:solidFill>
                <a:latin typeface="Consolas"/>
              </a:defRPr>
            </a:pPr>
            <a:r>
              <a:t>UserService.login()</a:t>
            </a:r>
          </a:p>
          <a:p>
            <a:pPr>
              <a:lnSpc>
                <a:spcPts val="1350"/>
              </a:lnSpc>
              <a:spcAft>
                <a:spcPts val="200"/>
              </a:spcAft>
              <a:defRPr sz="900">
                <a:solidFill>
                  <a:srgbClr val="2D2D2D"/>
                </a:solidFill>
                <a:latin typeface="Consolas"/>
              </a:defRPr>
            </a:pPr>
            <a:r>
              <a:t>       │</a:t>
            </a:r>
          </a:p>
          <a:p>
            <a:pPr>
              <a:lnSpc>
                <a:spcPts val="1350"/>
              </a:lnSpc>
              <a:spcAft>
                <a:spcPts val="200"/>
              </a:spcAft>
              <a:defRPr sz="900">
                <a:solidFill>
                  <a:srgbClr val="2D2D2D"/>
                </a:solidFill>
                <a:latin typeface="Consolas"/>
              </a:defRPr>
            </a:pPr>
            <a:r>
              <a:t>  ┌────┴────┐</a:t>
            </a:r>
          </a:p>
          <a:p>
            <a:pPr>
              <a:lnSpc>
                <a:spcPts val="1350"/>
              </a:lnSpc>
              <a:spcAft>
                <a:spcPts val="200"/>
              </a:spcAft>
              <a:defRPr sz="900">
                <a:solidFill>
                  <a:srgbClr val="2D2D2D"/>
                </a:solidFill>
                <a:latin typeface="Consolas"/>
              </a:defRPr>
            </a:pPr>
            <a:r>
              <a:t>  │密码正确？│</a:t>
            </a:r>
          </a:p>
          <a:p>
            <a:pPr>
              <a:lnSpc>
                <a:spcPts val="1350"/>
              </a:lnSpc>
              <a:spcAft>
                <a:spcPts val="200"/>
              </a:spcAft>
              <a:defRPr sz="900">
                <a:solidFill>
                  <a:srgbClr val="2D2D2D"/>
                </a:solidFill>
                <a:latin typeface="Consolas"/>
              </a:defRPr>
            </a:pPr>
            <a:r>
              <a:t>  └────┬────┘</a:t>
            </a:r>
          </a:p>
          <a:p>
            <a:pPr>
              <a:lnSpc>
                <a:spcPts val="1350"/>
              </a:lnSpc>
              <a:spcAft>
                <a:spcPts val="200"/>
              </a:spcAft>
              <a:defRPr sz="900">
                <a:solidFill>
                  <a:srgbClr val="2D2D2D"/>
                </a:solidFill>
                <a:latin typeface="Consolas"/>
              </a:defRPr>
            </a:pPr>
            <a:r>
              <a:t>  N    │    Y</a:t>
            </a:r>
          </a:p>
          <a:p>
            <a:pPr>
              <a:lnSpc>
                <a:spcPts val="1350"/>
              </a:lnSpc>
              <a:spcAft>
                <a:spcPts val="200"/>
              </a:spcAft>
              <a:defRPr sz="900">
                <a:solidFill>
                  <a:srgbClr val="2D2D2D"/>
                </a:solidFill>
                <a:latin typeface="Consolas"/>
              </a:defRPr>
            </a:pPr>
            <a:r>
              <a:t>  │    │    │</a:t>
            </a:r>
          </a:p>
          <a:p>
            <a:pPr>
              <a:lnSpc>
                <a:spcPts val="1350"/>
              </a:lnSpc>
              <a:spcAft>
                <a:spcPts val="200"/>
              </a:spcAft>
              <a:defRPr sz="900">
                <a:solidFill>
                  <a:srgbClr val="2D2D2D"/>
                </a:solidFill>
                <a:latin typeface="Consolas"/>
              </a:defRPr>
            </a:pPr>
            <a:r>
              <a:t>  ▼    │    ▼</a:t>
            </a:r>
          </a:p>
          <a:p>
            <a:pPr>
              <a:lnSpc>
                <a:spcPts val="1350"/>
              </a:lnSpc>
              <a:spcAft>
                <a:spcPts val="200"/>
              </a:spcAft>
              <a:defRPr sz="900">
                <a:solidFill>
                  <a:srgbClr val="2D2D2D"/>
                </a:solidFill>
                <a:latin typeface="Consolas"/>
              </a:defRPr>
            </a:pPr>
            <a:r>
              <a:t>返回    │  JwtUtil.generate()</a:t>
            </a:r>
          </a:p>
          <a:p>
            <a:pPr>
              <a:lnSpc>
                <a:spcPts val="1350"/>
              </a:lnSpc>
              <a:spcAft>
                <a:spcPts val="200"/>
              </a:spcAft>
              <a:defRPr sz="900">
                <a:solidFill>
                  <a:srgbClr val="2D2D2D"/>
                </a:solidFill>
                <a:latin typeface="Consolas"/>
              </a:defRPr>
            </a:pPr>
            <a:r>
              <a:t>401     │    │</a:t>
            </a:r>
          </a:p>
          <a:p>
            <a:pPr>
              <a:lnSpc>
                <a:spcPts val="1350"/>
              </a:lnSpc>
              <a:spcAft>
                <a:spcPts val="200"/>
              </a:spcAft>
              <a:defRPr sz="900">
                <a:solidFill>
                  <a:srgbClr val="2D2D2D"/>
                </a:solidFill>
                <a:latin typeface="Consolas"/>
              </a:defRPr>
            </a:pPr>
            <a:r>
              <a:t>       │    ▼</a:t>
            </a:r>
          </a:p>
          <a:p>
            <a:pPr>
              <a:lnSpc>
                <a:spcPts val="1350"/>
              </a:lnSpc>
              <a:spcAft>
                <a:spcPts val="200"/>
              </a:spcAft>
              <a:defRPr sz="900">
                <a:solidFill>
                  <a:srgbClr val="2D2D2D"/>
                </a:solidFill>
                <a:latin typeface="Consolas"/>
              </a:defRPr>
            </a:pPr>
            <a:r>
              <a:t>       │ 返回 token + 用户信息</a:t>
            </a:r>
          </a:p>
          <a:p>
            <a:pPr>
              <a:lnSpc>
                <a:spcPts val="1350"/>
              </a:lnSpc>
              <a:spcAft>
                <a:spcPts val="200"/>
              </a:spcAft>
              <a:defRPr sz="900">
                <a:solidFill>
                  <a:srgbClr val="2D2D2D"/>
                </a:solidFill>
                <a:latin typeface="Consolas"/>
              </a:defRPr>
            </a:pPr>
            <a:r>
              <a:t>       │    │</a:t>
            </a:r>
          </a:p>
          <a:p>
            <a:pPr>
              <a:lnSpc>
                <a:spcPts val="1350"/>
              </a:lnSpc>
              <a:spcAft>
                <a:spcPts val="200"/>
              </a:spcAft>
              <a:defRPr sz="900">
                <a:solidFill>
                  <a:srgbClr val="2D2D2D"/>
                </a:solidFill>
                <a:latin typeface="Consolas"/>
              </a:defRPr>
            </a:pPr>
            <a:r>
              <a:t>       │    ▼</a:t>
            </a:r>
          </a:p>
          <a:p>
            <a:pPr>
              <a:lnSpc>
                <a:spcPts val="1350"/>
              </a:lnSpc>
              <a:spcAft>
                <a:spcPts val="200"/>
              </a:spcAft>
              <a:defRPr sz="900">
                <a:solidFill>
                  <a:srgbClr val="2D2D2D"/>
                </a:solidFill>
                <a:latin typeface="Consolas"/>
              </a:defRPr>
            </a:pPr>
            <a:r>
              <a:t>       │ Pinia 存储 + localStorage</a:t>
            </a:r>
          </a:p>
          <a:p>
            <a:pPr>
              <a:lnSpc>
                <a:spcPts val="1350"/>
              </a:lnSpc>
              <a:spcAft>
                <a:spcPts val="200"/>
              </a:spcAft>
              <a:defRPr sz="900">
                <a:solidFill>
                  <a:srgbClr val="2D2D2D"/>
                </a:solidFill>
                <a:latin typeface="Consolas"/>
              </a:defRPr>
            </a:pPr>
            <a:r>
              <a:t>       │    │</a:t>
            </a:r>
          </a:p>
          <a:p>
            <a:pPr>
              <a:lnSpc>
                <a:spcPts val="1350"/>
              </a:lnSpc>
              <a:spcAft>
                <a:spcPts val="200"/>
              </a:spcAft>
              <a:defRPr sz="900">
                <a:solidFill>
                  <a:srgbClr val="2D2D2D"/>
                </a:solidFill>
                <a:latin typeface="Consolas"/>
              </a:defRPr>
            </a:pPr>
            <a:r>
              <a:t>       │    ▼</a:t>
            </a:r>
          </a:p>
          <a:p>
            <a:pPr>
              <a:lnSpc>
                <a:spcPts val="1350"/>
              </a:lnSpc>
              <a:spcAft>
                <a:spcPts val="200"/>
              </a:spcAft>
              <a:defRPr sz="900">
                <a:solidFill>
                  <a:srgbClr val="2D2D2D"/>
                </a:solidFill>
                <a:latin typeface="Consolas"/>
              </a:defRPr>
            </a:pPr>
            <a:r>
              <a:t>       │ 后续请求携带 token</a:t>
            </a:r>
          </a:p>
          <a:p>
            <a:pPr>
              <a:lnSpc>
                <a:spcPts val="1350"/>
              </a:lnSpc>
              <a:spcAft>
                <a:spcPts val="200"/>
              </a:spcAft>
              <a:defRPr sz="900">
                <a:solidFill>
                  <a:srgbClr val="2D2D2D"/>
                </a:solidFill>
                <a:latin typeface="Consolas"/>
              </a:defRPr>
            </a:pPr>
            <a:r>
              <a:t>       │    │</a:t>
            </a:r>
          </a:p>
          <a:p>
            <a:pPr>
              <a:lnSpc>
                <a:spcPts val="1350"/>
              </a:lnSpc>
              <a:spcAft>
                <a:spcPts val="200"/>
              </a:spcAft>
              <a:defRPr sz="900">
                <a:solidFill>
                  <a:srgbClr val="2D2D2D"/>
                </a:solidFill>
                <a:latin typeface="Consolas"/>
              </a:defRPr>
            </a:pPr>
            <a:r>
              <a:t>       │    ▼</a:t>
            </a:r>
          </a:p>
          <a:p>
            <a:pPr>
              <a:lnSpc>
                <a:spcPts val="1350"/>
              </a:lnSpc>
              <a:spcAft>
                <a:spcPts val="200"/>
              </a:spcAft>
              <a:defRPr sz="900">
                <a:solidFill>
                  <a:srgbClr val="2D2D2D"/>
                </a:solidFill>
                <a:latin typeface="Consolas"/>
              </a:defRPr>
            </a:pPr>
            <a:r>
              <a:t>       │ AuthInterceptor 拦截解析</a:t>
            </a:r>
          </a:p>
          <a:p>
            <a:pPr>
              <a:lnSpc>
                <a:spcPts val="1350"/>
              </a:lnSpc>
              <a:spcAft>
                <a:spcPts val="200"/>
              </a:spcAft>
              <a:defRPr sz="900">
                <a:solidFill>
                  <a:srgbClr val="2D2D2D"/>
                </a:solidFill>
                <a:latin typeface="Consolas"/>
              </a:defRPr>
            </a:p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36576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274320"/>
            <a:ext cx="1645920" cy="320040"/>
          </a:xfrm>
          <a:prstGeom prst="round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1000" b="1">
                <a:solidFill>
                  <a:srgbClr val="FFFFFF"/>
                </a:solidFill>
                <a:latin typeface="Microsoft YaHei"/>
              </a:defRPr>
            </a:pPr>
            <a:r>
              <a:t>04 详细设计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3152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860"/>
              </a:lnSpc>
              <a:spcAft>
                <a:spcPts val="200"/>
              </a:spcAft>
              <a:defRPr sz="2200" b="1">
                <a:solidFill>
                  <a:srgbClr val="2D2D2D"/>
                </a:solidFill>
                <a:latin typeface="Microsoft YaHei"/>
              </a:defRPr>
            </a:pPr>
            <a:r>
              <a:t>4.2 发布菜谱流程设计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9728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0"/>
              </a:lnSpc>
              <a:spcAft>
                <a:spcPts val="200"/>
              </a:spcAft>
              <a:defRPr sz="1100" b="0">
                <a:solidFill>
                  <a:srgbClr val="666666"/>
                </a:solidFill>
                <a:latin typeface="Microsoft YaHei"/>
              </a:defRPr>
            </a:pPr>
            <a:r>
              <a:t>涉及主表、食材子表和步骤子表的事务性写入，保证数据一致性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17320"/>
            <a:ext cx="10972800" cy="9144"/>
          </a:xfrm>
          <a:prstGeom prst="rect">
            <a:avLst/>
          </a:prstGeom>
          <a:solidFill>
            <a:srgbClr val="E8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40"/>
              </a:lnSpc>
              <a:spcAft>
                <a:spcPts val="200"/>
              </a:spcAft>
              <a:defRPr sz="800" b="0">
                <a:solidFill>
                  <a:srgbClr val="999999"/>
                </a:solidFill>
                <a:latin typeface="Microsoft YaHei"/>
              </a:defRPr>
            </a:pPr>
            <a:r>
              <a:t>17/27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00"/>
              </a:lnSpc>
              <a:spcAft>
                <a:spcPts val="200"/>
              </a:spcAft>
              <a:defRPr sz="1300" b="1">
                <a:solidFill>
                  <a:srgbClr val="FF6B35"/>
                </a:solidFill>
                <a:latin typeface="Microsoft YaHei"/>
              </a:defRPr>
            </a:pPr>
            <a:r>
              <a:t>▎发布流程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Microsoft YaHei"/>
              </a:defRPr>
            </a:pPr>
          </a:p>
          <a:p>
            <a:pPr>
              <a:lnSpc>
                <a:spcPts val="1500"/>
              </a:lnSpc>
              <a:spcAft>
                <a:spcPts val="200"/>
              </a:spcAft>
              <a:defRPr sz="1100" b="1">
                <a:solidFill>
                  <a:srgbClr val="2D2D2D"/>
                </a:solidFill>
                <a:latin typeface="Microsoft YaHei"/>
              </a:defRPr>
            </a:pPr>
            <a:r>
              <a:t>① 前端表单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Microsoft YaHei"/>
              </a:defRPr>
            </a:pPr>
            <a:r>
              <a:t>/publish 页面分三个区域：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Microsoft YaHei"/>
              </a:defRPr>
            </a:pPr>
            <a:r>
              <a:t>  • 基础信息区：标题、分类、简介、难度、烹饪时间、封面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Microsoft YaHei"/>
              </a:defRPr>
            </a:pPr>
            <a:r>
              <a:t>  • 食材清单区：动态添加/删除食材行（名称 + 用量）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Microsoft YaHei"/>
              </a:defRPr>
            </a:pPr>
            <a:r>
              <a:t>  • 制作步骤区：动态添加/删除步骤（文字 + 可选图片）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Microsoft YaHei"/>
              </a:defRPr>
            </a:pPr>
          </a:p>
          <a:p>
            <a:pPr>
              <a:lnSpc>
                <a:spcPts val="1500"/>
              </a:lnSpc>
              <a:spcAft>
                <a:spcPts val="200"/>
              </a:spcAft>
              <a:defRPr sz="1100" b="1">
                <a:solidFill>
                  <a:srgbClr val="2D2D2D"/>
                </a:solidFill>
                <a:latin typeface="Microsoft YaHei"/>
              </a:defRPr>
            </a:pPr>
            <a:r>
              <a:t>② 前端校验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Microsoft YaHei"/>
              </a:defRPr>
            </a:pPr>
            <a:r>
              <a:t>Element Plus 表单校验：必填项、字数限制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Microsoft YaHei"/>
              </a:defRPr>
            </a:pPr>
            <a:r>
              <a:t>提交前组装完整 JSON 对象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Microsoft YaHei"/>
              </a:defRPr>
            </a:pPr>
          </a:p>
          <a:p>
            <a:pPr>
              <a:lnSpc>
                <a:spcPts val="1500"/>
              </a:lnSpc>
              <a:spcAft>
                <a:spcPts val="200"/>
              </a:spcAft>
              <a:defRPr sz="1100" b="1">
                <a:solidFill>
                  <a:srgbClr val="2D2D2D"/>
                </a:solidFill>
                <a:latin typeface="Microsoft YaHei"/>
              </a:defRPr>
            </a:pPr>
            <a:r>
              <a:t>③ 后端处理（@Transactional）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Microsoft YaHei"/>
              </a:defRPr>
            </a:pPr>
            <a:r>
              <a:t>RecipeService.create() 开启事务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Microsoft YaHei"/>
              </a:defRPr>
            </a:pPr>
            <a:r>
              <a:t>  1. 插入 recipe 主表记录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Microsoft YaHei"/>
              </a:defRPr>
            </a:pPr>
            <a:r>
              <a:t>  2. 获取自增主键 recipe_id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Microsoft YaHei"/>
              </a:defRPr>
            </a:pPr>
            <a:r>
              <a:t>  3. 遍历食材列表，批量插入 recipe_ingredient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Microsoft YaHei"/>
              </a:defRPr>
            </a:pPr>
            <a:r>
              <a:t>  4. 遍历步骤列表，批量插入 recipe_step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Microsoft YaHei"/>
              </a:defRPr>
            </a:pPr>
            <a:r>
              <a:t>  5. 事务提交，任一失败则全部回滚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Microsoft YaHei"/>
              </a:defRPr>
            </a:pPr>
          </a:p>
          <a:p>
            <a:pPr>
              <a:lnSpc>
                <a:spcPts val="1500"/>
              </a:lnSpc>
              <a:spcAft>
                <a:spcPts val="200"/>
              </a:spcAft>
              <a:defRPr sz="1100" b="1">
                <a:solidFill>
                  <a:srgbClr val="2D2D2D"/>
                </a:solidFill>
                <a:latin typeface="Microsoft YaHei"/>
              </a:defRPr>
            </a:pPr>
            <a:r>
              <a:t>④ 前端跳转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Microsoft YaHei"/>
              </a:defRPr>
            </a:pPr>
            <a:r>
              <a:t>发布成功后 router.push 到菜谱详情页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0" y="1645920"/>
            <a:ext cx="5029200" cy="4572000"/>
          </a:xfrm>
          <a:prstGeom prst="roundRect">
            <a:avLst/>
          </a:prstGeom>
          <a:solidFill>
            <a:srgbClr val="FFF0E5"/>
          </a:solidFill>
          <a:ln w="12700">
            <a:solidFill>
              <a:srgbClr val="E8E0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0" y="1828800"/>
            <a:ext cx="4572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350"/>
              </a:lnSpc>
              <a:spcAft>
                <a:spcPts val="200"/>
              </a:spcAft>
              <a:defRPr sz="1200" b="1">
                <a:solidFill>
                  <a:srgbClr val="FF6B35"/>
                </a:solidFill>
                <a:latin typeface="Consolas"/>
              </a:defRPr>
            </a:pPr>
            <a:r>
              <a:t>▎数据流转</a:t>
            </a:r>
          </a:p>
          <a:p>
            <a:pPr>
              <a:lnSpc>
                <a:spcPts val="1350"/>
              </a:lnSpc>
              <a:spcAft>
                <a:spcPts val="200"/>
              </a:spcAft>
              <a:defRPr sz="900">
                <a:solidFill>
                  <a:srgbClr val="2D2D2D"/>
                </a:solidFill>
                <a:latin typeface="Consolas"/>
              </a:defRPr>
            </a:pPr>
          </a:p>
          <a:p>
            <a:pPr>
              <a:lnSpc>
                <a:spcPts val="1350"/>
              </a:lnSpc>
              <a:spcAft>
                <a:spcPts val="200"/>
              </a:spcAft>
              <a:defRPr sz="900">
                <a:solidFill>
                  <a:srgbClr val="2D2D2D"/>
                </a:solidFill>
                <a:latin typeface="Consolas"/>
              </a:defRPr>
            </a:pPr>
            <a:r>
              <a:t>POST /api/recipe</a:t>
            </a:r>
          </a:p>
          <a:p>
            <a:pPr>
              <a:lnSpc>
                <a:spcPts val="1350"/>
              </a:lnSpc>
              <a:spcAft>
                <a:spcPts val="200"/>
              </a:spcAft>
              <a:defRPr sz="900">
                <a:solidFill>
                  <a:srgbClr val="2D2D2D"/>
                </a:solidFill>
                <a:latin typeface="Consolas"/>
              </a:defRPr>
            </a:pPr>
            <a:r>
              <a:t>Body: {</a:t>
            </a:r>
          </a:p>
          <a:p>
            <a:pPr>
              <a:lnSpc>
                <a:spcPts val="1350"/>
              </a:lnSpc>
              <a:spcAft>
                <a:spcPts val="200"/>
              </a:spcAft>
              <a:defRPr sz="900">
                <a:solidFill>
                  <a:srgbClr val="2D2D2D"/>
                </a:solidFill>
                <a:latin typeface="Consolas"/>
              </a:defRPr>
            </a:pPr>
            <a:r>
              <a:t>  "title": "...",</a:t>
            </a:r>
          </a:p>
          <a:p>
            <a:pPr>
              <a:lnSpc>
                <a:spcPts val="1350"/>
              </a:lnSpc>
              <a:spcAft>
                <a:spcPts val="200"/>
              </a:spcAft>
              <a:defRPr sz="900">
                <a:solidFill>
                  <a:srgbClr val="2D2D2D"/>
                </a:solidFill>
                <a:latin typeface="Consolas"/>
              </a:defRPr>
            </a:pPr>
            <a:r>
              <a:t>  "categoryId": 1,</a:t>
            </a:r>
          </a:p>
          <a:p>
            <a:pPr>
              <a:lnSpc>
                <a:spcPts val="1350"/>
              </a:lnSpc>
              <a:spcAft>
                <a:spcPts val="200"/>
              </a:spcAft>
              <a:defRPr sz="900">
                <a:solidFill>
                  <a:srgbClr val="2D2D2D"/>
                </a:solidFill>
                <a:latin typeface="Consolas"/>
              </a:defRPr>
            </a:pPr>
            <a:r>
              <a:t>  "intro": "...",</a:t>
            </a:r>
          </a:p>
          <a:p>
            <a:pPr>
              <a:lnSpc>
                <a:spcPts val="1350"/>
              </a:lnSpc>
              <a:spcAft>
                <a:spcPts val="200"/>
              </a:spcAft>
              <a:defRPr sz="900">
                <a:solidFill>
                  <a:srgbClr val="2D2D2D"/>
                </a:solidFill>
                <a:latin typeface="Consolas"/>
              </a:defRPr>
            </a:pPr>
            <a:r>
              <a:t>  "difficulty": 1,</a:t>
            </a:r>
          </a:p>
          <a:p>
            <a:pPr>
              <a:lnSpc>
                <a:spcPts val="1350"/>
              </a:lnSpc>
              <a:spcAft>
                <a:spcPts val="200"/>
              </a:spcAft>
              <a:defRPr sz="900">
                <a:solidFill>
                  <a:srgbClr val="2D2D2D"/>
                </a:solidFill>
                <a:latin typeface="Consolas"/>
              </a:defRPr>
            </a:pPr>
            <a:r>
              <a:t>  "cookTime": 30,</a:t>
            </a:r>
          </a:p>
          <a:p>
            <a:pPr>
              <a:lnSpc>
                <a:spcPts val="1350"/>
              </a:lnSpc>
              <a:spcAft>
                <a:spcPts val="200"/>
              </a:spcAft>
              <a:defRPr sz="900">
                <a:solidFill>
                  <a:srgbClr val="2D2D2D"/>
                </a:solidFill>
                <a:latin typeface="Consolas"/>
              </a:defRPr>
            </a:pPr>
            <a:r>
              <a:t>  "ingredients": [</a:t>
            </a:r>
          </a:p>
          <a:p>
            <a:pPr>
              <a:lnSpc>
                <a:spcPts val="1350"/>
              </a:lnSpc>
              <a:spcAft>
                <a:spcPts val="200"/>
              </a:spcAft>
              <a:defRPr sz="900">
                <a:solidFill>
                  <a:srgbClr val="2D2D2D"/>
                </a:solidFill>
                <a:latin typeface="Consolas"/>
              </a:defRPr>
            </a:pPr>
            <a:r>
              <a:t>    {"name":"番茄","amount":"2个"},</a:t>
            </a:r>
          </a:p>
          <a:p>
            <a:pPr>
              <a:lnSpc>
                <a:spcPts val="1350"/>
              </a:lnSpc>
              <a:spcAft>
                <a:spcPts val="200"/>
              </a:spcAft>
              <a:defRPr sz="900">
                <a:solidFill>
                  <a:srgbClr val="2D2D2D"/>
                </a:solidFill>
                <a:latin typeface="Consolas"/>
              </a:defRPr>
            </a:pPr>
            <a:r>
              <a:t>    {"name":"鸡蛋","amount":"3个"}</a:t>
            </a:r>
          </a:p>
          <a:p>
            <a:pPr>
              <a:lnSpc>
                <a:spcPts val="1350"/>
              </a:lnSpc>
              <a:spcAft>
                <a:spcPts val="200"/>
              </a:spcAft>
              <a:defRPr sz="900">
                <a:solidFill>
                  <a:srgbClr val="2D2D2D"/>
                </a:solidFill>
                <a:latin typeface="Consolas"/>
              </a:defRPr>
            </a:pPr>
            <a:r>
              <a:t>  ],</a:t>
            </a:r>
          </a:p>
          <a:p>
            <a:pPr>
              <a:lnSpc>
                <a:spcPts val="1350"/>
              </a:lnSpc>
              <a:spcAft>
                <a:spcPts val="200"/>
              </a:spcAft>
              <a:defRPr sz="900">
                <a:solidFill>
                  <a:srgbClr val="2D2D2D"/>
                </a:solidFill>
                <a:latin typeface="Consolas"/>
              </a:defRPr>
            </a:pPr>
            <a:r>
              <a:t>  "steps": [</a:t>
            </a:r>
          </a:p>
          <a:p>
            <a:pPr>
              <a:lnSpc>
                <a:spcPts val="1350"/>
              </a:lnSpc>
              <a:spcAft>
                <a:spcPts val="200"/>
              </a:spcAft>
              <a:defRPr sz="900">
                <a:solidFill>
                  <a:srgbClr val="2D2D2D"/>
                </a:solidFill>
                <a:latin typeface="Consolas"/>
              </a:defRPr>
            </a:pPr>
            <a:r>
              <a:t>    {"content":"步骤1...","sortOrder":1},</a:t>
            </a:r>
          </a:p>
          <a:p>
            <a:pPr>
              <a:lnSpc>
                <a:spcPts val="1350"/>
              </a:lnSpc>
              <a:spcAft>
                <a:spcPts val="200"/>
              </a:spcAft>
              <a:defRPr sz="900">
                <a:solidFill>
                  <a:srgbClr val="2D2D2D"/>
                </a:solidFill>
                <a:latin typeface="Consolas"/>
              </a:defRPr>
            </a:pPr>
            <a:r>
              <a:t>    {"content":"步骤2...","sortOrder":2}</a:t>
            </a:r>
          </a:p>
          <a:p>
            <a:pPr>
              <a:lnSpc>
                <a:spcPts val="1350"/>
              </a:lnSpc>
              <a:spcAft>
                <a:spcPts val="200"/>
              </a:spcAft>
              <a:defRPr sz="900">
                <a:solidFill>
                  <a:srgbClr val="2D2D2D"/>
                </a:solidFill>
                <a:latin typeface="Consolas"/>
              </a:defRPr>
            </a:pPr>
            <a:r>
              <a:t>  ],</a:t>
            </a:r>
          </a:p>
          <a:p>
            <a:pPr>
              <a:lnSpc>
                <a:spcPts val="1350"/>
              </a:lnSpc>
              <a:spcAft>
                <a:spcPts val="200"/>
              </a:spcAft>
              <a:defRPr sz="900">
                <a:solidFill>
                  <a:srgbClr val="2D2D2D"/>
                </a:solidFill>
                <a:latin typeface="Consolas"/>
              </a:defRPr>
            </a:pPr>
            <a:r>
              <a:t>  "tips": "小贴士..."</a:t>
            </a:r>
          </a:p>
          <a:p>
            <a:pPr>
              <a:lnSpc>
                <a:spcPts val="1350"/>
              </a:lnSpc>
              <a:spcAft>
                <a:spcPts val="200"/>
              </a:spcAft>
              <a:defRPr sz="900">
                <a:solidFill>
                  <a:srgbClr val="2D2D2D"/>
                </a:solidFill>
                <a:latin typeface="Consolas"/>
              </a:defRPr>
            </a:pPr>
            <a:r>
              <a:t>}</a:t>
            </a:r>
          </a:p>
          <a:p>
            <a:pPr>
              <a:lnSpc>
                <a:spcPts val="1350"/>
              </a:lnSpc>
              <a:spcAft>
                <a:spcPts val="200"/>
              </a:spcAft>
              <a:defRPr sz="900">
                <a:solidFill>
                  <a:srgbClr val="2D2D2D"/>
                </a:solidFill>
                <a:latin typeface="Consolas"/>
              </a:defRPr>
            </a:pPr>
          </a:p>
          <a:p>
            <a:pPr>
              <a:lnSpc>
                <a:spcPts val="1350"/>
              </a:lnSpc>
              <a:spcAft>
                <a:spcPts val="200"/>
              </a:spcAft>
              <a:defRPr sz="900">
                <a:solidFill>
                  <a:srgbClr val="2D2D2D"/>
                </a:solidFill>
                <a:latin typeface="Consolas"/>
              </a:defRPr>
            </a:pPr>
            <a:r>
              <a:t>Response:</a:t>
            </a:r>
          </a:p>
          <a:p>
            <a:pPr>
              <a:lnSpc>
                <a:spcPts val="1350"/>
              </a:lnSpc>
              <a:spcAft>
                <a:spcPts val="200"/>
              </a:spcAft>
              <a:defRPr sz="900">
                <a:solidFill>
                  <a:srgbClr val="2D2D2D"/>
                </a:solidFill>
                <a:latin typeface="Consolas"/>
              </a:defRPr>
            </a:pPr>
            <a:r>
              <a:t>{ "code": 200, "data": { "id": 107 } }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36576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274320"/>
            <a:ext cx="1645920" cy="320040"/>
          </a:xfrm>
          <a:prstGeom prst="round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1000" b="1">
                <a:solidFill>
                  <a:srgbClr val="FFFFFF"/>
                </a:solidFill>
                <a:latin typeface="Microsoft YaHei"/>
              </a:defRPr>
            </a:pPr>
            <a:r>
              <a:t>04 详细设计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3152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860"/>
              </a:lnSpc>
              <a:spcAft>
                <a:spcPts val="200"/>
              </a:spcAft>
              <a:defRPr sz="2200" b="1">
                <a:solidFill>
                  <a:srgbClr val="2D2D2D"/>
                </a:solidFill>
                <a:latin typeface="Microsoft YaHei"/>
              </a:defRPr>
            </a:pPr>
            <a:r>
              <a:t>4.3 冰箱寻菜匹配算法设计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9728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0"/>
              </a:lnSpc>
              <a:spcAft>
                <a:spcPts val="200"/>
              </a:spcAft>
              <a:defRPr sz="1100" b="0">
                <a:solidFill>
                  <a:srgbClr val="666666"/>
                </a:solidFill>
                <a:latin typeface="Microsoft YaHei"/>
              </a:defRPr>
            </a:pPr>
            <a:r>
              <a:t>纯前端匹配算法，区分主料和调味料的权重，按匹配度排序推荐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17320"/>
            <a:ext cx="10972800" cy="9144"/>
          </a:xfrm>
          <a:prstGeom prst="rect">
            <a:avLst/>
          </a:prstGeom>
          <a:solidFill>
            <a:srgbClr val="E8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40"/>
              </a:lnSpc>
              <a:spcAft>
                <a:spcPts val="200"/>
              </a:spcAft>
              <a:defRPr sz="800" b="0">
                <a:solidFill>
                  <a:srgbClr val="999999"/>
                </a:solidFill>
                <a:latin typeface="Microsoft YaHei"/>
              </a:defRPr>
            </a:pPr>
            <a:r>
              <a:t>18/27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00"/>
              </a:lnSpc>
              <a:spcAft>
                <a:spcPts val="200"/>
              </a:spcAft>
              <a:defRPr sz="1300" b="1">
                <a:solidFill>
                  <a:srgbClr val="FF6B35"/>
                </a:solidFill>
                <a:latin typeface="Consolas"/>
              </a:defRPr>
            </a:pPr>
            <a:r>
              <a:t>▎设计思路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Consolas"/>
              </a:defRPr>
            </a:pP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Consolas"/>
              </a:defRPr>
            </a:pPr>
            <a:r>
              <a:t>冰箱寻菜是纯前端实现的匹配功能，不需要后端接口。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Consolas"/>
              </a:defRPr>
            </a:pPr>
            <a:r>
              <a:t>用户从 39 种食材中选择已有的食材，系统计算每道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Consolas"/>
              </a:defRPr>
            </a:pPr>
            <a:r>
              <a:t>菜谱与用户食材的匹配度。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Consolas"/>
              </a:defRPr>
            </a:pPr>
          </a:p>
          <a:p>
            <a:pPr>
              <a:lnSpc>
                <a:spcPts val="1500"/>
              </a:lnSpc>
              <a:spcAft>
                <a:spcPts val="200"/>
              </a:spcAft>
              <a:defRPr sz="1200" b="1">
                <a:solidFill>
                  <a:srgbClr val="FF6B35"/>
                </a:solidFill>
                <a:latin typeface="Consolas"/>
              </a:defRPr>
            </a:pPr>
            <a:r>
              <a:t>▎食材分类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Consolas"/>
              </a:defRPr>
            </a:pP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Consolas"/>
              </a:defRPr>
            </a:pPr>
            <a:r>
              <a:t>• 主料（29 种）：包菜、土豆、牛肉、鸡肉、鸡蛋等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Consolas"/>
              </a:defRPr>
            </a:pPr>
            <a:r>
              <a:t>  → 匹配权重占 70%，决定菜谱是否【能做】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Consolas"/>
              </a:defRPr>
            </a:pPr>
            <a:r>
              <a:t>• 调味料（10 种）：盐、生抽、糖、葱花、香菜等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Consolas"/>
              </a:defRPr>
            </a:pPr>
            <a:r>
              <a:t>  → 匹配权重占 30%，作为辅助参考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Consolas"/>
              </a:defRPr>
            </a:pPr>
          </a:p>
          <a:p>
            <a:pPr>
              <a:lnSpc>
                <a:spcPts val="1500"/>
              </a:lnSpc>
              <a:spcAft>
                <a:spcPts val="200"/>
              </a:spcAft>
              <a:defRPr sz="1200" b="1">
                <a:solidFill>
                  <a:srgbClr val="FF6B35"/>
                </a:solidFill>
                <a:latin typeface="Consolas"/>
              </a:defRPr>
            </a:pPr>
            <a:r>
              <a:t>▎匹配算法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Consolas"/>
              </a:defRPr>
            </a:pP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Consolas"/>
              </a:defRPr>
            </a:pPr>
            <a:r>
              <a:t>for each recipe: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Consolas"/>
              </a:defRPr>
            </a:pPr>
            <a:r>
              <a:t>  mainRequired = ingredients 中的主料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Consolas"/>
              </a:defRPr>
            </a:pPr>
            <a:r>
              <a:t>  seasonRequired = ingredients 中的调味料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Consolas"/>
              </a:defRPr>
            </a:pPr>
            <a:r>
              <a:t>  matchedMain = mainRequired ∩ userSelected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Consolas"/>
              </a:defRPr>
            </a:pPr>
            <a:r>
              <a:t>  matchedSeason = seasonRequired ∩ userSelected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Consolas"/>
              </a:defRPr>
            </a:pPr>
            <a:r>
              <a:t>  score = matchedMain/mainRequired × 0.7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Consolas"/>
              </a:defRPr>
            </a:pPr>
            <a:r>
              <a:t>        + matchedSeason/seasonRequired × 0.3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Consolas"/>
              </a:defRPr>
            </a:pPr>
            <a:r>
              <a:t>  matchPercent = round(score × 100)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Consolas"/>
              </a:defRPr>
            </a:pPr>
          </a:p>
          <a:p>
            <a:pPr>
              <a:lnSpc>
                <a:spcPts val="1500"/>
              </a:lnSpc>
              <a:spcAft>
                <a:spcPts val="200"/>
              </a:spcAft>
              <a:defRPr sz="1200" b="1">
                <a:solidFill>
                  <a:srgbClr val="FF6B35"/>
                </a:solidFill>
                <a:latin typeface="Consolas"/>
              </a:defRPr>
            </a:pPr>
            <a:r>
              <a:t>▎匹配标签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Consolas"/>
              </a:defRPr>
            </a:pP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Consolas"/>
              </a:defRPr>
            </a:pPr>
            <a:r>
              <a:t>100% = 完全够做  |  ≥80% = 很适合做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Consolas"/>
              </a:defRPr>
            </a:pPr>
            <a:r>
              <a:t>≥60% = 还差一点  |  &lt;60% = 备菜参考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0" y="1645920"/>
            <a:ext cx="5029200" cy="4572000"/>
          </a:xfrm>
          <a:prstGeom prst="roundRect">
            <a:avLst/>
          </a:prstGeom>
          <a:solidFill>
            <a:srgbClr val="FFF0E5"/>
          </a:solidFill>
          <a:ln w="12700">
            <a:solidFill>
              <a:srgbClr val="E8E0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0" y="1828800"/>
            <a:ext cx="4572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350"/>
              </a:lnSpc>
              <a:spcAft>
                <a:spcPts val="200"/>
              </a:spcAft>
              <a:defRPr sz="1200" b="1">
                <a:solidFill>
                  <a:srgbClr val="FF6B35"/>
                </a:solidFill>
                <a:latin typeface="Microsoft YaHei"/>
              </a:defRPr>
            </a:pPr>
            <a:r>
              <a:t>▎前端实现流程</a:t>
            </a:r>
          </a:p>
          <a:p>
            <a:pPr>
              <a:lnSpc>
                <a:spcPts val="1350"/>
              </a:lnSpc>
              <a:spcAft>
                <a:spcPts val="200"/>
              </a:spcAft>
              <a:defRPr sz="900">
                <a:solidFill>
                  <a:srgbClr val="2D2D2D"/>
                </a:solidFill>
                <a:latin typeface="Microsoft YaHei"/>
              </a:defRPr>
            </a:pPr>
          </a:p>
          <a:p>
            <a:pPr>
              <a:lnSpc>
                <a:spcPts val="1350"/>
              </a:lnSpc>
              <a:spcAft>
                <a:spcPts val="200"/>
              </a:spcAft>
              <a:defRPr sz="900">
                <a:solidFill>
                  <a:srgbClr val="2D2D2D"/>
                </a:solidFill>
                <a:latin typeface="Microsoft YaHei"/>
              </a:defRPr>
            </a:pPr>
            <a:r>
              <a:t>1. loadRecipes()</a:t>
            </a:r>
          </a:p>
          <a:p>
            <a:pPr>
              <a:lnSpc>
                <a:spcPts val="1350"/>
              </a:lnSpc>
              <a:spcAft>
                <a:spcPts val="200"/>
              </a:spcAft>
              <a:defRPr sz="900">
                <a:solidFill>
                  <a:srgbClr val="2D2D2D"/>
                </a:solidFill>
                <a:latin typeface="Microsoft YaHei"/>
              </a:defRPr>
            </a:pPr>
            <a:r>
              <a:t>   分页拉取全部菜谱（最多 120 条），</a:t>
            </a:r>
          </a:p>
          <a:p>
            <a:pPr>
              <a:lnSpc>
                <a:spcPts val="1350"/>
              </a:lnSpc>
              <a:spcAft>
                <a:spcPts val="200"/>
              </a:spcAft>
              <a:defRPr sz="900">
                <a:solidFill>
                  <a:srgbClr val="2D2D2D"/>
                </a:solidFill>
                <a:latin typeface="Microsoft YaHei"/>
              </a:defRPr>
            </a:pPr>
            <a:r>
              <a:t>   提取每道菜的食材列表</a:t>
            </a:r>
          </a:p>
          <a:p>
            <a:pPr>
              <a:lnSpc>
                <a:spcPts val="1350"/>
              </a:lnSpc>
              <a:spcAft>
                <a:spcPts val="200"/>
              </a:spcAft>
              <a:defRPr sz="900">
                <a:solidFill>
                  <a:srgbClr val="2D2D2D"/>
                </a:solidFill>
                <a:latin typeface="Microsoft YaHei"/>
              </a:defRPr>
            </a:pPr>
          </a:p>
          <a:p>
            <a:pPr>
              <a:lnSpc>
                <a:spcPts val="1350"/>
              </a:lnSpc>
              <a:spcAft>
                <a:spcPts val="200"/>
              </a:spcAft>
              <a:defRPr sz="900">
                <a:solidFill>
                  <a:srgbClr val="2D2D2D"/>
                </a:solidFill>
                <a:latin typeface="Microsoft YaHei"/>
              </a:defRPr>
            </a:pPr>
            <a:r>
              <a:t>2. 用户点击食材按钮</a:t>
            </a:r>
          </a:p>
          <a:p>
            <a:pPr>
              <a:lnSpc>
                <a:spcPts val="1350"/>
              </a:lnSpc>
              <a:spcAft>
                <a:spcPts val="200"/>
              </a:spcAft>
              <a:defRPr sz="900">
                <a:solidFill>
                  <a:srgbClr val="2D2D2D"/>
                </a:solidFill>
                <a:latin typeface="Microsoft YaHei"/>
              </a:defRPr>
            </a:pPr>
            <a:r>
              <a:t>   toggleIngredient() 切换选中状态</a:t>
            </a:r>
          </a:p>
          <a:p>
            <a:pPr>
              <a:lnSpc>
                <a:spcPts val="1350"/>
              </a:lnSpc>
              <a:spcAft>
                <a:spcPts val="200"/>
              </a:spcAft>
              <a:defRPr sz="900">
                <a:solidFill>
                  <a:srgbClr val="2D2D2D"/>
                </a:solidFill>
                <a:latin typeface="Microsoft YaHei"/>
              </a:defRPr>
            </a:pPr>
            <a:r>
              <a:t>   飞入动画：食材图标飞入锅中</a:t>
            </a:r>
          </a:p>
          <a:p>
            <a:pPr>
              <a:lnSpc>
                <a:spcPts val="1350"/>
              </a:lnSpc>
              <a:spcAft>
                <a:spcPts val="200"/>
              </a:spcAft>
              <a:defRPr sz="900">
                <a:solidFill>
                  <a:srgbClr val="2D2D2D"/>
                </a:solidFill>
                <a:latin typeface="Microsoft YaHei"/>
              </a:defRPr>
            </a:pPr>
          </a:p>
          <a:p>
            <a:pPr>
              <a:lnSpc>
                <a:spcPts val="1350"/>
              </a:lnSpc>
              <a:spcAft>
                <a:spcPts val="200"/>
              </a:spcAft>
              <a:defRPr sz="900">
                <a:solidFill>
                  <a:srgbClr val="2D2D2D"/>
                </a:solidFill>
                <a:latin typeface="Microsoft YaHei"/>
              </a:defRPr>
            </a:pPr>
            <a:r>
              <a:t>3. 点击【开始匹配】</a:t>
            </a:r>
          </a:p>
          <a:p>
            <a:pPr>
              <a:lnSpc>
                <a:spcPts val="1350"/>
              </a:lnSpc>
              <a:spcAft>
                <a:spcPts val="200"/>
              </a:spcAft>
              <a:defRPr sz="900">
                <a:solidFill>
                  <a:srgbClr val="2D2D2D"/>
                </a:solidFill>
                <a:latin typeface="Microsoft YaHei"/>
              </a:defRPr>
            </a:pPr>
            <a:r>
              <a:t>   searchRecipes() 计算匹配度</a:t>
            </a:r>
          </a:p>
          <a:p>
            <a:pPr>
              <a:lnSpc>
                <a:spcPts val="1350"/>
              </a:lnSpc>
              <a:spcAft>
                <a:spcPts val="200"/>
              </a:spcAft>
              <a:defRPr sz="900">
                <a:solidFill>
                  <a:srgbClr val="2D2D2D"/>
                </a:solidFill>
                <a:latin typeface="Microsoft YaHei"/>
              </a:defRPr>
            </a:pPr>
            <a:r>
              <a:t>   按匹配度降序排列</a:t>
            </a:r>
          </a:p>
          <a:p>
            <a:pPr>
              <a:lnSpc>
                <a:spcPts val="1350"/>
              </a:lnSpc>
              <a:spcAft>
                <a:spcPts val="200"/>
              </a:spcAft>
              <a:defRPr sz="900">
                <a:solidFill>
                  <a:srgbClr val="2D2D2D"/>
                </a:solidFill>
                <a:latin typeface="Microsoft YaHei"/>
              </a:defRPr>
            </a:pPr>
            <a:r>
              <a:t>   过滤掉匹配度为 0 的菜谱</a:t>
            </a:r>
          </a:p>
          <a:p>
            <a:pPr>
              <a:lnSpc>
                <a:spcPts val="1350"/>
              </a:lnSpc>
              <a:spcAft>
                <a:spcPts val="200"/>
              </a:spcAft>
              <a:defRPr sz="900">
                <a:solidFill>
                  <a:srgbClr val="2D2D2D"/>
                </a:solidFill>
                <a:latin typeface="Microsoft YaHei"/>
              </a:defRPr>
            </a:pPr>
          </a:p>
          <a:p>
            <a:pPr>
              <a:lnSpc>
                <a:spcPts val="1350"/>
              </a:lnSpc>
              <a:spcAft>
                <a:spcPts val="200"/>
              </a:spcAft>
              <a:defRPr sz="900">
                <a:solidFill>
                  <a:srgbClr val="2D2D2D"/>
                </a:solidFill>
                <a:latin typeface="Microsoft YaHei"/>
              </a:defRPr>
            </a:pPr>
            <a:r>
              <a:t>4. 结果展示</a:t>
            </a:r>
          </a:p>
          <a:p>
            <a:pPr>
              <a:lnSpc>
                <a:spcPts val="1350"/>
              </a:lnSpc>
              <a:spcAft>
                <a:spcPts val="200"/>
              </a:spcAft>
              <a:defRPr sz="900">
                <a:solidFill>
                  <a:srgbClr val="2D2D2D"/>
                </a:solidFill>
                <a:latin typeface="Microsoft YaHei"/>
              </a:defRPr>
            </a:pPr>
            <a:r>
              <a:t>   匹配度进度条 + 百分比</a:t>
            </a:r>
          </a:p>
          <a:p>
            <a:pPr>
              <a:lnSpc>
                <a:spcPts val="1350"/>
              </a:lnSpc>
              <a:spcAft>
                <a:spcPts val="200"/>
              </a:spcAft>
              <a:defRPr sz="900">
                <a:solidFill>
                  <a:srgbClr val="2D2D2D"/>
                </a:solidFill>
                <a:latin typeface="Microsoft YaHei"/>
              </a:defRPr>
            </a:pPr>
            <a:r>
              <a:t>   已有主料 / 已有调味料</a:t>
            </a:r>
          </a:p>
          <a:p>
            <a:pPr>
              <a:lnSpc>
                <a:spcPts val="1350"/>
              </a:lnSpc>
              <a:spcAft>
                <a:spcPts val="200"/>
              </a:spcAft>
              <a:defRPr sz="900">
                <a:solidFill>
                  <a:srgbClr val="2D2D2D"/>
                </a:solidFill>
                <a:latin typeface="Microsoft YaHei"/>
              </a:defRPr>
            </a:pPr>
            <a:r>
              <a:t>   缺少主料 / 缺少调味料</a:t>
            </a:r>
          </a:p>
          <a:p>
            <a:pPr>
              <a:lnSpc>
                <a:spcPts val="1350"/>
              </a:lnSpc>
              <a:spcAft>
                <a:spcPts val="200"/>
              </a:spcAft>
              <a:defRPr sz="900">
                <a:solidFill>
                  <a:srgbClr val="2D2D2D"/>
                </a:solidFill>
                <a:latin typeface="Microsoft YaHei"/>
              </a:defRPr>
            </a:pPr>
            <a:r>
              <a:t>   分类标签</a:t>
            </a:r>
          </a:p>
          <a:p>
            <a:pPr>
              <a:lnSpc>
                <a:spcPts val="1350"/>
              </a:lnSpc>
              <a:spcAft>
                <a:spcPts val="200"/>
              </a:spcAft>
              <a:defRPr sz="900">
                <a:solidFill>
                  <a:srgbClr val="2D2D2D"/>
                </a:solidFill>
                <a:latin typeface="Microsoft YaHei"/>
              </a:defRPr>
            </a:pPr>
          </a:p>
          <a:p>
            <a:pPr>
              <a:lnSpc>
                <a:spcPts val="1350"/>
              </a:lnSpc>
              <a:spcAft>
                <a:spcPts val="200"/>
              </a:spcAft>
              <a:defRPr sz="900">
                <a:solidFill>
                  <a:srgbClr val="2D2D2D"/>
                </a:solidFill>
                <a:latin typeface="Microsoft YaHei"/>
              </a:defRPr>
            </a:pPr>
            <a:r>
              <a:t>• 锅的 CSS 动画：蒸汽 + 火焰</a:t>
            </a:r>
          </a:p>
          <a:p>
            <a:pPr>
              <a:lnSpc>
                <a:spcPts val="1350"/>
              </a:lnSpc>
              <a:spcAft>
                <a:spcPts val="200"/>
              </a:spcAft>
              <a:defRPr sz="900">
                <a:solidFill>
                  <a:srgbClr val="2D2D2D"/>
                </a:solidFill>
                <a:latin typeface="Microsoft YaHei"/>
              </a:defRPr>
            </a:pPr>
            <a:r>
              <a:t>• 食材飞入动画：CSS @keyframes</a:t>
            </a:r>
          </a:p>
          <a:p>
            <a:pPr>
              <a:lnSpc>
                <a:spcPts val="1350"/>
              </a:lnSpc>
              <a:spcAft>
                <a:spcPts val="200"/>
              </a:spcAft>
              <a:defRPr sz="900">
                <a:solidFill>
                  <a:srgbClr val="2D2D2D"/>
                </a:solidFill>
                <a:latin typeface="Microsoft YaHei"/>
              </a:defRPr>
            </a:pPr>
            <a:r>
              <a:t>• 页面 keep-alive 缓存，返回不丢失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36576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274320"/>
            <a:ext cx="1645920" cy="320040"/>
          </a:xfrm>
          <a:prstGeom prst="round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1000" b="1">
                <a:solidFill>
                  <a:srgbClr val="FFFFFF"/>
                </a:solidFill>
                <a:latin typeface="Microsoft YaHei"/>
              </a:defRPr>
            </a:pPr>
            <a:r>
              <a:t>04 详细设计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3152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860"/>
              </a:lnSpc>
              <a:spcAft>
                <a:spcPts val="200"/>
              </a:spcAft>
              <a:defRPr sz="2200" b="1">
                <a:solidFill>
                  <a:srgbClr val="2D2D2D"/>
                </a:solidFill>
                <a:latin typeface="Microsoft YaHei"/>
              </a:defRPr>
            </a:pPr>
            <a:r>
              <a:t>4.4 RESTful API 接口设计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9728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0"/>
              </a:lnSpc>
              <a:spcAft>
                <a:spcPts val="200"/>
              </a:spcAft>
              <a:defRPr sz="1100" b="0">
                <a:solidFill>
                  <a:srgbClr val="666666"/>
                </a:solidFill>
                <a:latin typeface="Microsoft YaHei"/>
              </a:defRPr>
            </a:pPr>
            <a:r>
              <a:t>统一 Result 响应格式，按模块划分接口，区分公开接口和需认证接口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17320"/>
            <a:ext cx="10972800" cy="9144"/>
          </a:xfrm>
          <a:prstGeom prst="rect">
            <a:avLst/>
          </a:prstGeom>
          <a:solidFill>
            <a:srgbClr val="E8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40"/>
              </a:lnSpc>
              <a:spcAft>
                <a:spcPts val="200"/>
              </a:spcAft>
              <a:defRPr sz="800" b="0">
                <a:solidFill>
                  <a:srgbClr val="999999"/>
                </a:solidFill>
                <a:latin typeface="Microsoft YaHei"/>
              </a:defRPr>
            </a:pPr>
            <a:r>
              <a:t>19/27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645920"/>
          <a:ext cx="109728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914400"/>
                <a:gridCol w="3200400"/>
                <a:gridCol w="1371600"/>
                <a:gridCol w="4572000"/>
              </a:tblGrid>
              <a:tr h="268941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模块</a:t>
                      </a:r>
                    </a:p>
                  </a:txBody>
                  <a:tcPr>
                    <a:solidFill>
                      <a:srgbClr val="FF6B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方法</a:t>
                      </a:r>
                    </a:p>
                  </a:txBody>
                  <a:tcPr>
                    <a:solidFill>
                      <a:srgbClr val="FF6B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接口路径</a:t>
                      </a:r>
                    </a:p>
                  </a:txBody>
                  <a:tcPr>
                    <a:solidFill>
                      <a:srgbClr val="FF6B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权限</a:t>
                      </a:r>
                    </a:p>
                  </a:txBody>
                  <a:tcPr>
                    <a:solidFill>
                      <a:srgbClr val="FF6B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说明</a:t>
                      </a:r>
                    </a:p>
                  </a:txBody>
                  <a:tcPr>
                    <a:solidFill>
                      <a:srgbClr val="FF6B35"/>
                    </a:solidFill>
                  </a:tcPr>
                </a:tc>
              </a:tr>
              <a:tr h="268941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用户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POST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/api/user/register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公开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用户注册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</a:tr>
              <a:tr h="268941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用户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POST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/api/user/login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公开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用户登录，返回 token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8941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用户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GET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/api/user/me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需登录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获取当前用户信息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</a:tr>
              <a:tr h="268941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分类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GET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/api/category/list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公开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获取全部分类列表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8941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菜谱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GET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/api/recipe/list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公开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分页查询菜谱（支持 keyword, categoryId）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</a:tr>
              <a:tr h="268941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菜谱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GET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/api/recipe/{id}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公开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菜谱详情（含食材、步骤、作者）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8941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菜谱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POST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/api/recipe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需登录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发布菜谱（事务写入主表+子表）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</a:tr>
              <a:tr h="268941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菜谱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PUT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/api/recipe/{id}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需登录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编辑菜谱（仅作者）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8941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菜谱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DELETE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/api/recipe/{id}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需登录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删除菜谱（逻辑删除）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</a:tr>
              <a:tr h="268941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收藏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POST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/api/favorite/{recipeId}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需登录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收藏/取消收藏（toggle）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8941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评论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POST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/api/comment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需登录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发表评论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</a:tr>
              <a:tr h="268941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评论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DELETE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/api/comment/{id}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需登录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删除评论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8941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后台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GET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/api/admin/stats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管理员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统计概览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</a:tr>
              <a:tr h="268941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后台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GET/PUT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/api/admin/users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管理员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用户管理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8941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后台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GET/PUT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/api/admin/recipes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管理员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菜谱管理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</a:tr>
              <a:tr h="268944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后台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POST/PUT/DEL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/api/admin/categories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管理员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分类管理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2286000"/>
            <a:ext cx="73152" cy="1645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28600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5460"/>
              </a:lnSpc>
              <a:spcAft>
                <a:spcPts val="200"/>
              </a:spcAft>
              <a:defRPr sz="4200" b="1">
                <a:solidFill>
                  <a:srgbClr val="FF6B35"/>
                </a:solidFill>
                <a:latin typeface="Microsoft YaHei"/>
              </a:defRPr>
            </a:pPr>
            <a: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88036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160"/>
              </a:lnSpc>
              <a:spcAft>
                <a:spcPts val="200"/>
              </a:spcAft>
              <a:defRPr sz="3200" b="1">
                <a:solidFill>
                  <a:srgbClr val="FFFFFF"/>
                </a:solidFill>
                <a:latin typeface="Microsoft YaHei"/>
              </a:defRPr>
            </a:pPr>
            <a:r>
              <a:t>系统实现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6118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20"/>
              </a:lnSpc>
              <a:spcAft>
                <a:spcPts val="200"/>
              </a:spcAft>
              <a:defRPr sz="1400" b="0">
                <a:solidFill>
                  <a:srgbClr val="999999"/>
                </a:solidFill>
                <a:latin typeface="Microsoft YaHei"/>
              </a:defRPr>
            </a:pPr>
            <a:r>
              <a:t>用户端、管理员端功能实现与后端技术要点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5029200"/>
            <a:ext cx="9601200" cy="13716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212080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170"/>
              </a:lnSpc>
              <a:spcAft>
                <a:spcPts val="200"/>
              </a:spcAft>
              <a:defRPr sz="900" b="0">
                <a:solidFill>
                  <a:srgbClr val="999999"/>
                </a:solidFill>
                <a:latin typeface="Microsoft YaHei"/>
              </a:defRPr>
            </a:pPr>
            <a:r>
              <a:t>基于 Vue + Spring Boot + MySQL 的菜谱分享与管理系统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40"/>
              </a:lnSpc>
              <a:spcAft>
                <a:spcPts val="200"/>
              </a:spcAft>
              <a:defRPr sz="800" b="0">
                <a:solidFill>
                  <a:srgbClr val="999999"/>
                </a:solidFill>
                <a:latin typeface="Microsoft YaHei"/>
              </a:defRPr>
            </a:pPr>
            <a:r>
              <a:t>20/27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36576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274320"/>
            <a:ext cx="1645920" cy="320040"/>
          </a:xfrm>
          <a:prstGeom prst="round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1000" b="1">
                <a:solidFill>
                  <a:srgbClr val="FFFFFF"/>
                </a:solidFill>
                <a:latin typeface="Microsoft YaHei"/>
              </a:defRPr>
            </a:pPr>
            <a:r>
              <a:t>05 系统实现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3152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860"/>
              </a:lnSpc>
              <a:spcAft>
                <a:spcPts val="200"/>
              </a:spcAft>
              <a:defRPr sz="2200" b="1">
                <a:solidFill>
                  <a:srgbClr val="2D2D2D"/>
                </a:solidFill>
                <a:latin typeface="Microsoft YaHei"/>
              </a:defRPr>
            </a:pPr>
            <a:r>
              <a:t>5.1 用户端功能实现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9728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0"/>
              </a:lnSpc>
              <a:spcAft>
                <a:spcPts val="200"/>
              </a:spcAft>
              <a:defRPr sz="1100" b="0">
                <a:solidFill>
                  <a:srgbClr val="666666"/>
                </a:solidFill>
                <a:latin typeface="Microsoft YaHei"/>
              </a:defRPr>
            </a:pPr>
            <a:r>
              <a:t>以美食社区体验为核心，实现内容发现、创作和互动闭环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17320"/>
            <a:ext cx="10972800" cy="9144"/>
          </a:xfrm>
          <a:prstGeom prst="rect">
            <a:avLst/>
          </a:prstGeom>
          <a:solidFill>
            <a:srgbClr val="E8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40"/>
              </a:lnSpc>
              <a:spcAft>
                <a:spcPts val="200"/>
              </a:spcAft>
              <a:defRPr sz="800" b="0">
                <a:solidFill>
                  <a:srgbClr val="999999"/>
                </a:solidFill>
                <a:latin typeface="Microsoft YaHei"/>
              </a:defRPr>
            </a:pPr>
            <a:r>
              <a:t>21/27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64592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00"/>
              </a:lnSpc>
              <a:spcAft>
                <a:spcPts val="200"/>
              </a:spcAft>
              <a:defRPr sz="1200" b="1">
                <a:solidFill>
                  <a:srgbClr val="FF6B35"/>
                </a:solidFill>
                <a:latin typeface="Microsoft YaHei"/>
              </a:defRPr>
            </a:pPr>
            <a:r>
              <a:t>▎首页与内容发现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Microsoft YaHei"/>
              </a:defRPr>
            </a:pPr>
            <a:r>
              <a:t>• 顶部搜索框 + 分类快捷入口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Microsoft YaHei"/>
              </a:defRPr>
            </a:pPr>
            <a:r>
              <a:t>• 推荐菜谱区（hero 大图展示）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Microsoft YaHei"/>
              </a:defRPr>
            </a:pPr>
            <a:r>
              <a:t>• 热门榜单（按收藏数排序）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Microsoft YaHei"/>
              </a:defRPr>
            </a:pPr>
            <a:r>
              <a:t>• 最新上传（按发布时间排序）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Microsoft YaHei"/>
              </a:defRPr>
            </a:pPr>
            <a:r>
              <a:t>• 分类点击跳转列表页并自动定位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Microsoft YaHei"/>
              </a:defRPr>
            </a:pPr>
          </a:p>
          <a:p>
            <a:pPr>
              <a:lnSpc>
                <a:spcPts val="1500"/>
              </a:lnSpc>
              <a:spcAft>
                <a:spcPts val="200"/>
              </a:spcAft>
              <a:defRPr sz="1200" b="1">
                <a:solidFill>
                  <a:srgbClr val="FF6B35"/>
                </a:solidFill>
                <a:latin typeface="Microsoft YaHei"/>
              </a:defRPr>
            </a:pPr>
            <a:r>
              <a:t>▎菜谱列表与搜索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Microsoft YaHei"/>
              </a:defRPr>
            </a:pPr>
            <a:r>
              <a:t>• 分页展示，每页 18 条（6 行 × 3 列）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Microsoft YaHei"/>
              </a:defRPr>
            </a:pPr>
            <a:r>
              <a:t>• 分类筛选 + 关键词搜索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Microsoft YaHei"/>
              </a:defRPr>
            </a:pPr>
            <a:r>
              <a:t>• 后端按标题、简介和食材名匹配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Microsoft YaHei"/>
              </a:defRPr>
            </a:pPr>
            <a:r>
              <a:t>• 卡片悬浮效果，整卡可点击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Microsoft YaHei"/>
              </a:defRPr>
            </a:pPr>
          </a:p>
          <a:p>
            <a:pPr>
              <a:lnSpc>
                <a:spcPts val="1500"/>
              </a:lnSpc>
              <a:spcAft>
                <a:spcPts val="200"/>
              </a:spcAft>
              <a:defRPr sz="1200" b="1">
                <a:solidFill>
                  <a:srgbClr val="FF6B35"/>
                </a:solidFill>
                <a:latin typeface="Microsoft YaHei"/>
              </a:defRPr>
            </a:pPr>
            <a:r>
              <a:t>▎菜谱详情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Microsoft YaHei"/>
              </a:defRPr>
            </a:pPr>
            <a:r>
              <a:t>• 封面大图 + 基础信息（难度、时间）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Microsoft YaHei"/>
              </a:defRPr>
            </a:pPr>
            <a:r>
              <a:t>• 食材清单 + 步骤详情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Microsoft YaHei"/>
              </a:defRPr>
            </a:pPr>
            <a:r>
              <a:t>• 作者信息 + 收藏按钮 + 评论列表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Microsoft YaHei"/>
              </a:defRPr>
            </a:pPr>
            <a:r>
              <a:t>• 收藏状态实时切换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Microsoft YaHei"/>
              </a:defRPr>
            </a:pPr>
          </a:p>
          <a:p>
            <a:pPr>
              <a:lnSpc>
                <a:spcPts val="1500"/>
              </a:lnSpc>
              <a:spcAft>
                <a:spcPts val="200"/>
              </a:spcAft>
              <a:defRPr sz="1200" b="1">
                <a:solidFill>
                  <a:srgbClr val="FF6B35"/>
                </a:solidFill>
                <a:latin typeface="Microsoft YaHei"/>
              </a:defRPr>
            </a:pPr>
            <a:r>
              <a:t>▎发布菜谱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Microsoft YaHei"/>
              </a:defRPr>
            </a:pPr>
            <a:r>
              <a:t>• 分区表单：基础信息→食材→步骤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Microsoft YaHei"/>
              </a:defRPr>
            </a:pPr>
            <a:r>
              <a:t>• 动态增删食材行和步骤行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Microsoft YaHei"/>
              </a:defRPr>
            </a:pPr>
            <a:r>
              <a:t>• 表单实时校验，提交前验证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Microsoft YaHei"/>
              </a:defRPr>
            </a:pPr>
          </a:p>
          <a:p>
            <a:pPr>
              <a:lnSpc>
                <a:spcPts val="1500"/>
              </a:lnSpc>
              <a:spcAft>
                <a:spcPts val="200"/>
              </a:spcAft>
              <a:defRPr sz="1200" b="1">
                <a:solidFill>
                  <a:srgbClr val="FF6B35"/>
                </a:solidFill>
                <a:latin typeface="Microsoft YaHei"/>
              </a:defRPr>
            </a:pPr>
            <a:r>
              <a:t>▎冰箱寻菜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Microsoft YaHei"/>
              </a:defRPr>
            </a:pPr>
            <a:r>
              <a:t>• 主料区 + 调味料区分区展示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Microsoft YaHei"/>
              </a:defRPr>
            </a:pPr>
            <a:r>
              <a:t>• 点击食材飞入锅中动画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Microsoft YaHei"/>
              </a:defRPr>
            </a:pPr>
            <a:r>
              <a:t>• 匹配度计算 + 结果展示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1645920"/>
            <a:ext cx="5029200" cy="4572000"/>
          </a:xfrm>
          <a:prstGeom prst="roundRect">
            <a:avLst/>
          </a:prstGeom>
          <a:solidFill>
            <a:srgbClr val="FFF0E5"/>
          </a:solidFill>
          <a:ln w="12700">
            <a:solidFill>
              <a:srgbClr val="E8E0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1828800"/>
            <a:ext cx="4572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350"/>
              </a:lnSpc>
              <a:spcAft>
                <a:spcPts val="200"/>
              </a:spcAft>
              <a:defRPr sz="1200" b="1">
                <a:solidFill>
                  <a:srgbClr val="FF6B35"/>
                </a:solidFill>
                <a:latin typeface="Microsoft YaHei"/>
              </a:defRPr>
            </a:pPr>
            <a:r>
              <a:t>▎关键技术实现</a:t>
            </a:r>
          </a:p>
          <a:p>
            <a:pPr>
              <a:lnSpc>
                <a:spcPts val="1350"/>
              </a:lnSpc>
              <a:spcAft>
                <a:spcPts val="200"/>
              </a:spcAft>
              <a:defRPr sz="900">
                <a:solidFill>
                  <a:srgbClr val="2D2D2D"/>
                </a:solidFill>
                <a:latin typeface="Microsoft YaHei"/>
              </a:defRPr>
            </a:pPr>
          </a:p>
          <a:p>
            <a:pPr>
              <a:lnSpc>
                <a:spcPts val="1350"/>
              </a:lnSpc>
              <a:spcAft>
                <a:spcPts val="200"/>
              </a:spcAft>
              <a:defRPr sz="900">
                <a:solidFill>
                  <a:srgbClr val="2D2D2D"/>
                </a:solidFill>
                <a:latin typeface="Microsoft YaHei"/>
              </a:defRPr>
            </a:pPr>
            <a:r>
              <a:t>• keep-alive 缓存页面状态</a:t>
            </a:r>
          </a:p>
          <a:p>
            <a:pPr>
              <a:lnSpc>
                <a:spcPts val="1350"/>
              </a:lnSpc>
              <a:spcAft>
                <a:spcPts val="200"/>
              </a:spcAft>
              <a:defRPr sz="900">
                <a:solidFill>
                  <a:srgbClr val="2D2D2D"/>
                </a:solidFill>
                <a:latin typeface="Microsoft YaHei"/>
              </a:defRPr>
            </a:pPr>
            <a:r>
              <a:t>  首页、列表页、冰箱寻菜页缓存</a:t>
            </a:r>
          </a:p>
          <a:p>
            <a:pPr>
              <a:lnSpc>
                <a:spcPts val="1350"/>
              </a:lnSpc>
              <a:spcAft>
                <a:spcPts val="200"/>
              </a:spcAft>
              <a:defRPr sz="900">
                <a:solidFill>
                  <a:srgbClr val="2D2D2D"/>
                </a:solidFill>
                <a:latin typeface="Microsoft YaHei"/>
              </a:defRPr>
            </a:pPr>
            <a:r>
              <a:t>  返回时保留滚动位置和选中状态</a:t>
            </a:r>
          </a:p>
          <a:p>
            <a:pPr>
              <a:lnSpc>
                <a:spcPts val="1350"/>
              </a:lnSpc>
              <a:spcAft>
                <a:spcPts val="200"/>
              </a:spcAft>
              <a:defRPr sz="900">
                <a:solidFill>
                  <a:srgbClr val="2D2D2D"/>
                </a:solidFill>
                <a:latin typeface="Microsoft YaHei"/>
              </a:defRPr>
            </a:pPr>
          </a:p>
          <a:p>
            <a:pPr>
              <a:lnSpc>
                <a:spcPts val="1350"/>
              </a:lnSpc>
              <a:spcAft>
                <a:spcPts val="200"/>
              </a:spcAft>
              <a:defRPr sz="900">
                <a:solidFill>
                  <a:srgbClr val="2D2D2D"/>
                </a:solidFill>
                <a:latin typeface="Microsoft YaHei"/>
              </a:defRPr>
            </a:pPr>
            <a:r>
              <a:t>• Pinia 状态管理</a:t>
            </a:r>
          </a:p>
          <a:p>
            <a:pPr>
              <a:lnSpc>
                <a:spcPts val="1350"/>
              </a:lnSpc>
              <a:spcAft>
                <a:spcPts val="200"/>
              </a:spcAft>
              <a:defRPr sz="900">
                <a:solidFill>
                  <a:srgbClr val="2D2D2D"/>
                </a:solidFill>
                <a:latin typeface="Microsoft YaHei"/>
              </a:defRPr>
            </a:pPr>
            <a:r>
              <a:t>  token 持久化存储</a:t>
            </a:r>
          </a:p>
          <a:p>
            <a:pPr>
              <a:lnSpc>
                <a:spcPts val="1350"/>
              </a:lnSpc>
              <a:spcAft>
                <a:spcPts val="200"/>
              </a:spcAft>
              <a:defRPr sz="900">
                <a:solidFill>
                  <a:srgbClr val="2D2D2D"/>
                </a:solidFill>
                <a:latin typeface="Microsoft YaHei"/>
              </a:defRPr>
            </a:pPr>
            <a:r>
              <a:t>  userInfo 全局共享</a:t>
            </a:r>
          </a:p>
          <a:p>
            <a:pPr>
              <a:lnSpc>
                <a:spcPts val="1350"/>
              </a:lnSpc>
              <a:spcAft>
                <a:spcPts val="200"/>
              </a:spcAft>
              <a:defRPr sz="900">
                <a:solidFill>
                  <a:srgbClr val="2D2D2D"/>
                </a:solidFill>
                <a:latin typeface="Microsoft YaHei"/>
              </a:defRPr>
            </a:pPr>
            <a:r>
              <a:t>  登录状态驱动 UI 变化</a:t>
            </a:r>
          </a:p>
          <a:p>
            <a:pPr>
              <a:lnSpc>
                <a:spcPts val="1350"/>
              </a:lnSpc>
              <a:spcAft>
                <a:spcPts val="200"/>
              </a:spcAft>
              <a:defRPr sz="900">
                <a:solidFill>
                  <a:srgbClr val="2D2D2D"/>
                </a:solidFill>
                <a:latin typeface="Microsoft YaHei"/>
              </a:defRPr>
            </a:pPr>
          </a:p>
          <a:p>
            <a:pPr>
              <a:lnSpc>
                <a:spcPts val="1350"/>
              </a:lnSpc>
              <a:spcAft>
                <a:spcPts val="200"/>
              </a:spcAft>
              <a:defRPr sz="900">
                <a:solidFill>
                  <a:srgbClr val="2D2D2D"/>
                </a:solidFill>
                <a:latin typeface="Microsoft YaHei"/>
              </a:defRPr>
            </a:pPr>
            <a:r>
              <a:t>• Axios 请求封装</a:t>
            </a:r>
          </a:p>
          <a:p>
            <a:pPr>
              <a:lnSpc>
                <a:spcPts val="1350"/>
              </a:lnSpc>
              <a:spcAft>
                <a:spcPts val="200"/>
              </a:spcAft>
              <a:defRPr sz="900">
                <a:solidFill>
                  <a:srgbClr val="2D2D2D"/>
                </a:solidFill>
                <a:latin typeface="Microsoft YaHei"/>
              </a:defRPr>
            </a:pPr>
            <a:r>
              <a:t>  统一 baseURL: /api</a:t>
            </a:r>
          </a:p>
          <a:p>
            <a:pPr>
              <a:lnSpc>
                <a:spcPts val="1350"/>
              </a:lnSpc>
              <a:spcAft>
                <a:spcPts val="200"/>
              </a:spcAft>
              <a:defRPr sz="900">
                <a:solidFill>
                  <a:srgbClr val="2D2D2D"/>
                </a:solidFill>
                <a:latin typeface="Microsoft YaHei"/>
              </a:defRPr>
            </a:pPr>
            <a:r>
              <a:t>  请求拦截器注入 token</a:t>
            </a:r>
          </a:p>
          <a:p>
            <a:pPr>
              <a:lnSpc>
                <a:spcPts val="1350"/>
              </a:lnSpc>
              <a:spcAft>
                <a:spcPts val="200"/>
              </a:spcAft>
              <a:defRPr sz="900">
                <a:solidFill>
                  <a:srgbClr val="2D2D2D"/>
                </a:solidFill>
                <a:latin typeface="Microsoft YaHei"/>
              </a:defRPr>
            </a:pPr>
            <a:r>
              <a:t>  响应拦截器统一处理错误</a:t>
            </a:r>
          </a:p>
          <a:p>
            <a:pPr>
              <a:lnSpc>
                <a:spcPts val="1350"/>
              </a:lnSpc>
              <a:spcAft>
                <a:spcPts val="200"/>
              </a:spcAft>
              <a:defRPr sz="900">
                <a:solidFill>
                  <a:srgbClr val="2D2D2D"/>
                </a:solidFill>
                <a:latin typeface="Microsoft YaHei"/>
              </a:defRPr>
            </a:pPr>
            <a:r>
              <a:t>  15 秒超时自动提示</a:t>
            </a:r>
          </a:p>
          <a:p>
            <a:pPr>
              <a:lnSpc>
                <a:spcPts val="1350"/>
              </a:lnSpc>
              <a:spcAft>
                <a:spcPts val="200"/>
              </a:spcAft>
              <a:defRPr sz="900">
                <a:solidFill>
                  <a:srgbClr val="2D2D2D"/>
                </a:solidFill>
                <a:latin typeface="Microsoft YaHei"/>
              </a:defRPr>
            </a:pPr>
          </a:p>
          <a:p>
            <a:pPr>
              <a:lnSpc>
                <a:spcPts val="1350"/>
              </a:lnSpc>
              <a:spcAft>
                <a:spcPts val="200"/>
              </a:spcAft>
              <a:defRPr sz="900">
                <a:solidFill>
                  <a:srgbClr val="2D2D2D"/>
                </a:solidFill>
                <a:latin typeface="Microsoft YaHei"/>
              </a:defRPr>
            </a:pPr>
            <a:r>
              <a:t>• Vue Router 导航守卫</a:t>
            </a:r>
          </a:p>
          <a:p>
            <a:pPr>
              <a:lnSpc>
                <a:spcPts val="1350"/>
              </a:lnSpc>
              <a:spcAft>
                <a:spcPts val="200"/>
              </a:spcAft>
              <a:defRPr sz="900">
                <a:solidFill>
                  <a:srgbClr val="2D2D2D"/>
                </a:solidFill>
                <a:latin typeface="Microsoft YaHei"/>
              </a:defRPr>
            </a:pPr>
            <a:r>
              <a:t>  beforeEach 检查登录状态</a:t>
            </a:r>
          </a:p>
          <a:p>
            <a:pPr>
              <a:lnSpc>
                <a:spcPts val="1350"/>
              </a:lnSpc>
              <a:spcAft>
                <a:spcPts val="200"/>
              </a:spcAft>
              <a:defRPr sz="900">
                <a:solidFill>
                  <a:srgbClr val="2D2D2D"/>
                </a:solidFill>
                <a:latin typeface="Microsoft YaHei"/>
              </a:defRPr>
            </a:pPr>
            <a:r>
              <a:t>  meta.auth 标记需登录页面</a:t>
            </a:r>
          </a:p>
          <a:p>
            <a:pPr>
              <a:lnSpc>
                <a:spcPts val="1350"/>
              </a:lnSpc>
              <a:spcAft>
                <a:spcPts val="200"/>
              </a:spcAft>
              <a:defRPr sz="900">
                <a:solidFill>
                  <a:srgbClr val="2D2D2D"/>
                </a:solidFill>
                <a:latin typeface="Microsoft YaHei"/>
              </a:defRPr>
            </a:pPr>
            <a:r>
              <a:t>  未登录跳转登录页并记录回调</a:t>
            </a:r>
          </a:p>
          <a:p>
            <a:pPr>
              <a:lnSpc>
                <a:spcPts val="1350"/>
              </a:lnSpc>
              <a:spcAft>
                <a:spcPts val="200"/>
              </a:spcAft>
              <a:defRPr sz="900">
                <a:solidFill>
                  <a:srgbClr val="2D2D2D"/>
                </a:solidFill>
                <a:latin typeface="Microsoft YaHei"/>
              </a:defRPr>
            </a:pPr>
          </a:p>
          <a:p>
            <a:pPr>
              <a:lnSpc>
                <a:spcPts val="1350"/>
              </a:lnSpc>
              <a:spcAft>
                <a:spcPts val="200"/>
              </a:spcAft>
              <a:defRPr sz="900">
                <a:solidFill>
                  <a:srgbClr val="2D2D2D"/>
                </a:solidFill>
                <a:latin typeface="Microsoft YaHei"/>
              </a:defRPr>
            </a:pPr>
            <a:r>
              <a:t>• Element Plus 组件</a:t>
            </a:r>
          </a:p>
          <a:p>
            <a:pPr>
              <a:lnSpc>
                <a:spcPts val="1350"/>
              </a:lnSpc>
              <a:spcAft>
                <a:spcPts val="200"/>
              </a:spcAft>
              <a:defRPr sz="900">
                <a:solidFill>
                  <a:srgbClr val="2D2D2D"/>
                </a:solidFill>
                <a:latin typeface="Microsoft YaHei"/>
              </a:defRPr>
            </a:pPr>
            <a:r>
              <a:t>  el-pagination 分页</a:t>
            </a:r>
          </a:p>
          <a:p>
            <a:pPr>
              <a:lnSpc>
                <a:spcPts val="1350"/>
              </a:lnSpc>
              <a:spcAft>
                <a:spcPts val="200"/>
              </a:spcAft>
              <a:defRPr sz="900">
                <a:solidFill>
                  <a:srgbClr val="2D2D2D"/>
                </a:solidFill>
                <a:latin typeface="Microsoft YaHei"/>
              </a:defRPr>
            </a:pPr>
            <a:r>
              <a:t>  el-table 后台列表</a:t>
            </a:r>
          </a:p>
          <a:p>
            <a:pPr>
              <a:lnSpc>
                <a:spcPts val="1350"/>
              </a:lnSpc>
              <a:spcAft>
                <a:spcPts val="200"/>
              </a:spcAft>
              <a:defRPr sz="900">
                <a:solidFill>
                  <a:srgbClr val="2D2D2D"/>
                </a:solidFill>
                <a:latin typeface="Microsoft YaHei"/>
              </a:defRPr>
            </a:pPr>
            <a:r>
              <a:t>  el-form 表单校验</a:t>
            </a:r>
          </a:p>
          <a:p>
            <a:pPr>
              <a:lnSpc>
                <a:spcPts val="1350"/>
              </a:lnSpc>
              <a:spcAft>
                <a:spcPts val="200"/>
              </a:spcAft>
              <a:defRPr sz="900">
                <a:solidFill>
                  <a:srgbClr val="2D2D2D"/>
                </a:solidFill>
                <a:latin typeface="Microsoft YaHei"/>
              </a:defRPr>
            </a:pPr>
            <a:r>
              <a:t>  el-message 操作提示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36576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274320"/>
            <a:ext cx="1645920" cy="320040"/>
          </a:xfrm>
          <a:prstGeom prst="round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1000" b="1">
                <a:solidFill>
                  <a:srgbClr val="FFFFFF"/>
                </a:solidFill>
                <a:latin typeface="Microsoft YaHei"/>
              </a:defRPr>
            </a:pPr>
            <a:r>
              <a:t>05 系统实现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3152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860"/>
              </a:lnSpc>
              <a:spcAft>
                <a:spcPts val="200"/>
              </a:spcAft>
              <a:defRPr sz="2200" b="1">
                <a:solidFill>
                  <a:srgbClr val="2D2D2D"/>
                </a:solidFill>
                <a:latin typeface="Microsoft YaHei"/>
              </a:defRPr>
            </a:pPr>
            <a:r>
              <a:t>5.2 管理员端功能实现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9728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0"/>
              </a:lnSpc>
              <a:spcAft>
                <a:spcPts val="200"/>
              </a:spcAft>
              <a:defRPr sz="1100" b="0">
                <a:solidFill>
                  <a:srgbClr val="666666"/>
                </a:solidFill>
                <a:latin typeface="Microsoft YaHei"/>
              </a:defRPr>
            </a:pPr>
            <a:r>
              <a:t>覆盖轻量后台管理场景：统计面板、用户管理、菜谱管理、分类维护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17320"/>
            <a:ext cx="10972800" cy="9144"/>
          </a:xfrm>
          <a:prstGeom prst="rect">
            <a:avLst/>
          </a:prstGeom>
          <a:solidFill>
            <a:srgbClr val="E8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40"/>
              </a:lnSpc>
              <a:spcAft>
                <a:spcPts val="200"/>
              </a:spcAft>
              <a:defRPr sz="800" b="0">
                <a:solidFill>
                  <a:srgbClr val="999999"/>
                </a:solidFill>
                <a:latin typeface="Microsoft YaHei"/>
              </a:defRPr>
            </a:pPr>
            <a:r>
              <a:t>22/27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64592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00"/>
              </a:lnSpc>
              <a:spcAft>
                <a:spcPts val="200"/>
              </a:spcAft>
              <a:defRPr sz="1200" b="1">
                <a:solidFill>
                  <a:srgbClr val="FF6B35"/>
                </a:solidFill>
                <a:latin typeface="Microsoft YaHei"/>
              </a:defRPr>
            </a:pPr>
            <a:r>
              <a:t>▎管理员端架构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Microsoft YaHei"/>
              </a:defRPr>
            </a:pPr>
            <a:r>
              <a:t>• 独立路由 /admin，meta.admin = true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Microsoft YaHei"/>
              </a:defRPr>
            </a:pPr>
            <a:r>
              <a:t>• AuthInterceptor 校验 ADMIN 角色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Microsoft YaHei"/>
              </a:defRPr>
            </a:pPr>
            <a:r>
              <a:t>• 非管理员访问返回 403 状态码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Microsoft YaHei"/>
              </a:defRPr>
            </a:pPr>
            <a:r>
              <a:t>• 前端路由守卫配合后端拦截双重保障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Microsoft YaHei"/>
              </a:defRPr>
            </a:pPr>
          </a:p>
          <a:p>
            <a:pPr>
              <a:lnSpc>
                <a:spcPts val="1500"/>
              </a:lnSpc>
              <a:spcAft>
                <a:spcPts val="200"/>
              </a:spcAft>
              <a:defRPr sz="1200" b="1">
                <a:solidFill>
                  <a:srgbClr val="FF6B35"/>
                </a:solidFill>
                <a:latin typeface="Microsoft YaHei"/>
              </a:defRPr>
            </a:pPr>
            <a:r>
              <a:t>▎统计面板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Microsoft YaHei"/>
              </a:defRPr>
            </a:pPr>
            <a:r>
              <a:t>• 用户总数、菜谱总数、分类总数、评论总数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Microsoft YaHei"/>
              </a:defRPr>
            </a:pPr>
            <a:r>
              <a:t>• 四个统计卡片，数字醒目展示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Microsoft YaHei"/>
              </a:defRPr>
            </a:pPr>
            <a:r>
              <a:t>• 后端 AdminService 聚合查询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Microsoft YaHei"/>
              </a:defRPr>
            </a:pPr>
          </a:p>
          <a:p>
            <a:pPr>
              <a:lnSpc>
                <a:spcPts val="1500"/>
              </a:lnSpc>
              <a:spcAft>
                <a:spcPts val="200"/>
              </a:spcAft>
              <a:defRPr sz="1200" b="1">
                <a:solidFill>
                  <a:srgbClr val="FF6B35"/>
                </a:solidFill>
                <a:latin typeface="Microsoft YaHei"/>
              </a:defRPr>
            </a:pPr>
            <a:r>
              <a:t>▎用户管理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Microsoft YaHei"/>
              </a:defRPr>
            </a:pPr>
            <a:r>
              <a:t>• 用户列表分页展示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Microsoft YaHei"/>
              </a:defRPr>
            </a:pPr>
            <a:r>
              <a:t>• 启用/禁用操作（status 字段）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Microsoft YaHei"/>
              </a:defRPr>
            </a:pPr>
            <a:r>
              <a:t>• 被禁用用户 token 立即失效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Microsoft YaHei"/>
              </a:defRPr>
            </a:pPr>
            <a:r>
              <a:t>• 禁止禁用管理员账号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Microsoft YaHei"/>
              </a:defRPr>
            </a:pPr>
          </a:p>
          <a:p>
            <a:pPr>
              <a:lnSpc>
                <a:spcPts val="1500"/>
              </a:lnSpc>
              <a:spcAft>
                <a:spcPts val="200"/>
              </a:spcAft>
              <a:defRPr sz="1200" b="1">
                <a:solidFill>
                  <a:srgbClr val="FF6B35"/>
                </a:solidFill>
                <a:latin typeface="Microsoft YaHei"/>
              </a:defRPr>
            </a:pPr>
            <a:r>
              <a:t>▎菜谱管理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Microsoft YaHei"/>
              </a:defRPr>
            </a:pPr>
            <a:r>
              <a:t>• 菜谱列表分页展示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Microsoft YaHei"/>
              </a:defRPr>
            </a:pPr>
            <a:r>
              <a:t>• 上架/下架操作（status 字段）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Microsoft YaHei"/>
              </a:defRPr>
            </a:pPr>
            <a:r>
              <a:t>• 下架菜谱不在前端列表展示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Microsoft YaHei"/>
              </a:defRPr>
            </a:pPr>
            <a:r>
              <a:t>• 可查看菜谱详情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Microsoft YaHei"/>
              </a:defRPr>
            </a:pPr>
          </a:p>
          <a:p>
            <a:pPr>
              <a:lnSpc>
                <a:spcPts val="1500"/>
              </a:lnSpc>
              <a:spcAft>
                <a:spcPts val="200"/>
              </a:spcAft>
              <a:defRPr sz="1200" b="1">
                <a:solidFill>
                  <a:srgbClr val="FF6B35"/>
                </a:solidFill>
                <a:latin typeface="Microsoft YaHei"/>
              </a:defRPr>
            </a:pPr>
            <a:r>
              <a:t>▎分类管理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Microsoft YaHei"/>
              </a:defRPr>
            </a:pPr>
            <a:r>
              <a:t>• 分类列表展示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Microsoft YaHei"/>
              </a:defRPr>
            </a:pPr>
            <a:r>
              <a:t>• 新增、编辑、删除分类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Microsoft YaHei"/>
              </a:defRPr>
            </a:pPr>
            <a:r>
              <a:t>• 删除前校验是否有关联菜谱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1645920"/>
            <a:ext cx="5029200" cy="4572000"/>
          </a:xfrm>
          <a:prstGeom prst="roundRect">
            <a:avLst/>
          </a:prstGeom>
          <a:solidFill>
            <a:srgbClr val="FFF0E5"/>
          </a:solidFill>
          <a:ln w="12700">
            <a:solidFill>
              <a:srgbClr val="E8E0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1828800"/>
            <a:ext cx="4572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350"/>
              </a:lnSpc>
              <a:spcAft>
                <a:spcPts val="200"/>
              </a:spcAft>
              <a:defRPr sz="1200" b="1">
                <a:solidFill>
                  <a:srgbClr val="FF6B35"/>
                </a:solidFill>
                <a:latin typeface="Consolas"/>
              </a:defRPr>
            </a:pPr>
            <a:r>
              <a:t>▎后台管理页结构</a:t>
            </a:r>
          </a:p>
          <a:p>
            <a:pPr>
              <a:lnSpc>
                <a:spcPts val="1350"/>
              </a:lnSpc>
              <a:spcAft>
                <a:spcPts val="200"/>
              </a:spcAft>
              <a:defRPr sz="900">
                <a:solidFill>
                  <a:srgbClr val="2D2D2D"/>
                </a:solidFill>
                <a:latin typeface="Consolas"/>
              </a:defRPr>
            </a:pPr>
          </a:p>
          <a:p>
            <a:pPr>
              <a:lnSpc>
                <a:spcPts val="1350"/>
              </a:lnSpc>
              <a:spcAft>
                <a:spcPts val="200"/>
              </a:spcAft>
              <a:defRPr sz="900">
                <a:solidFill>
                  <a:srgbClr val="2D2D2D"/>
                </a:solidFill>
                <a:latin typeface="Consolas"/>
              </a:defRPr>
            </a:pPr>
            <a:r>
              <a:t>┌─────────────────────┐</a:t>
            </a:r>
          </a:p>
          <a:p>
            <a:pPr>
              <a:lnSpc>
                <a:spcPts val="1350"/>
              </a:lnSpc>
              <a:spcAft>
                <a:spcPts val="200"/>
              </a:spcAft>
              <a:defRPr sz="900">
                <a:solidFill>
                  <a:srgbClr val="2D2D2D"/>
                </a:solidFill>
                <a:latin typeface="Consolas"/>
              </a:defRPr>
            </a:pPr>
            <a:r>
              <a:t>│    统计卡片（4 个）    │</a:t>
            </a:r>
          </a:p>
          <a:p>
            <a:pPr>
              <a:lnSpc>
                <a:spcPts val="1350"/>
              </a:lnSpc>
              <a:spcAft>
                <a:spcPts val="200"/>
              </a:spcAft>
              <a:defRPr sz="900">
                <a:solidFill>
                  <a:srgbClr val="2D2D2D"/>
                </a:solidFill>
                <a:latin typeface="Consolas"/>
              </a:defRPr>
            </a:pPr>
            <a:r>
              <a:t>├─────────────────────┤</a:t>
            </a:r>
          </a:p>
          <a:p>
            <a:pPr>
              <a:lnSpc>
                <a:spcPts val="1350"/>
              </a:lnSpc>
              <a:spcAft>
                <a:spcPts val="200"/>
              </a:spcAft>
              <a:defRPr sz="900">
                <a:solidFill>
                  <a:srgbClr val="2D2D2D"/>
                </a:solidFill>
                <a:latin typeface="Consolas"/>
              </a:defRPr>
            </a:pPr>
            <a:r>
              <a:t>│ Tab: 用户 | 菜谱 | 分类 │</a:t>
            </a:r>
          </a:p>
          <a:p>
            <a:pPr>
              <a:lnSpc>
                <a:spcPts val="1350"/>
              </a:lnSpc>
              <a:spcAft>
                <a:spcPts val="200"/>
              </a:spcAft>
              <a:defRPr sz="900">
                <a:solidFill>
                  <a:srgbClr val="2D2D2D"/>
                </a:solidFill>
                <a:latin typeface="Consolas"/>
              </a:defRPr>
            </a:pPr>
            <a:r>
              <a:t>├─────────────────────┤</a:t>
            </a:r>
          </a:p>
          <a:p>
            <a:pPr>
              <a:lnSpc>
                <a:spcPts val="1350"/>
              </a:lnSpc>
              <a:spcAft>
                <a:spcPts val="200"/>
              </a:spcAft>
              <a:defRPr sz="900">
                <a:solidFill>
                  <a:srgbClr val="2D2D2D"/>
                </a:solidFill>
                <a:latin typeface="Consolas"/>
              </a:defRPr>
            </a:pPr>
            <a:r>
              <a:t>│                     │</a:t>
            </a:r>
          </a:p>
          <a:p>
            <a:pPr>
              <a:lnSpc>
                <a:spcPts val="1350"/>
              </a:lnSpc>
              <a:spcAft>
                <a:spcPts val="200"/>
              </a:spcAft>
              <a:defRPr sz="900">
                <a:solidFill>
                  <a:srgbClr val="2D2D2D"/>
                </a:solidFill>
                <a:latin typeface="Consolas"/>
              </a:defRPr>
            </a:pPr>
            <a:r>
              <a:t>│    el-table 表格     │</a:t>
            </a:r>
          </a:p>
          <a:p>
            <a:pPr>
              <a:lnSpc>
                <a:spcPts val="1350"/>
              </a:lnSpc>
              <a:spcAft>
                <a:spcPts val="200"/>
              </a:spcAft>
              <a:defRPr sz="900">
                <a:solidFill>
                  <a:srgbClr val="2D2D2D"/>
                </a:solidFill>
                <a:latin typeface="Consolas"/>
              </a:defRPr>
            </a:pPr>
            <a:r>
              <a:t>│    • 分页数据         │</a:t>
            </a:r>
          </a:p>
          <a:p>
            <a:pPr>
              <a:lnSpc>
                <a:spcPts val="1350"/>
              </a:lnSpc>
              <a:spcAft>
                <a:spcPts val="200"/>
              </a:spcAft>
              <a:defRPr sz="900">
                <a:solidFill>
                  <a:srgbClr val="2D2D2D"/>
                </a:solidFill>
                <a:latin typeface="Consolas"/>
              </a:defRPr>
            </a:pPr>
            <a:r>
              <a:t>│    • 操作按钮列       │</a:t>
            </a:r>
          </a:p>
          <a:p>
            <a:pPr>
              <a:lnSpc>
                <a:spcPts val="1350"/>
              </a:lnSpc>
              <a:spcAft>
                <a:spcPts val="200"/>
              </a:spcAft>
              <a:defRPr sz="900">
                <a:solidFill>
                  <a:srgbClr val="2D2D2D"/>
                </a:solidFill>
                <a:latin typeface="Consolas"/>
              </a:defRPr>
            </a:pPr>
            <a:r>
              <a:t>│    • 状态标签         │</a:t>
            </a:r>
          </a:p>
          <a:p>
            <a:pPr>
              <a:lnSpc>
                <a:spcPts val="1350"/>
              </a:lnSpc>
              <a:spcAft>
                <a:spcPts val="200"/>
              </a:spcAft>
              <a:defRPr sz="900">
                <a:solidFill>
                  <a:srgbClr val="2D2D2D"/>
                </a:solidFill>
                <a:latin typeface="Consolas"/>
              </a:defRPr>
            </a:pPr>
            <a:r>
              <a:t>│                     │</a:t>
            </a:r>
          </a:p>
          <a:p>
            <a:pPr>
              <a:lnSpc>
                <a:spcPts val="1350"/>
              </a:lnSpc>
              <a:spcAft>
                <a:spcPts val="200"/>
              </a:spcAft>
              <a:defRPr sz="900">
                <a:solidFill>
                  <a:srgbClr val="2D2D2D"/>
                </a:solidFill>
                <a:latin typeface="Consolas"/>
              </a:defRPr>
            </a:pPr>
            <a:r>
              <a:t>├─────────────────────┤</a:t>
            </a:r>
          </a:p>
          <a:p>
            <a:pPr>
              <a:lnSpc>
                <a:spcPts val="1350"/>
              </a:lnSpc>
              <a:spcAft>
                <a:spcPts val="200"/>
              </a:spcAft>
              <a:defRPr sz="900">
                <a:solidFill>
                  <a:srgbClr val="2D2D2D"/>
                </a:solidFill>
                <a:latin typeface="Consolas"/>
              </a:defRPr>
            </a:pPr>
            <a:r>
              <a:t>│    el-pagination    │</a:t>
            </a:r>
          </a:p>
          <a:p>
            <a:pPr>
              <a:lnSpc>
                <a:spcPts val="1350"/>
              </a:lnSpc>
              <a:spcAft>
                <a:spcPts val="200"/>
              </a:spcAft>
              <a:defRPr sz="900">
                <a:solidFill>
                  <a:srgbClr val="2D2D2D"/>
                </a:solidFill>
                <a:latin typeface="Consolas"/>
              </a:defRPr>
            </a:pPr>
            <a:r>
              <a:t>└─────────────────────┘</a:t>
            </a:r>
          </a:p>
          <a:p>
            <a:pPr>
              <a:lnSpc>
                <a:spcPts val="1350"/>
              </a:lnSpc>
              <a:spcAft>
                <a:spcPts val="200"/>
              </a:spcAft>
              <a:defRPr sz="900">
                <a:solidFill>
                  <a:srgbClr val="2D2D2D"/>
                </a:solidFill>
                <a:latin typeface="Consolas"/>
              </a:defRPr>
            </a:pPr>
          </a:p>
          <a:p>
            <a:pPr>
              <a:lnSpc>
                <a:spcPts val="1350"/>
              </a:lnSpc>
              <a:spcAft>
                <a:spcPts val="200"/>
              </a:spcAft>
              <a:defRPr sz="1200" b="1">
                <a:solidFill>
                  <a:srgbClr val="FF6B35"/>
                </a:solidFill>
                <a:latin typeface="Consolas"/>
              </a:defRPr>
            </a:pPr>
            <a:r>
              <a:t>▎后端实现要点</a:t>
            </a:r>
          </a:p>
          <a:p>
            <a:pPr>
              <a:lnSpc>
                <a:spcPts val="1350"/>
              </a:lnSpc>
              <a:spcAft>
                <a:spcPts val="200"/>
              </a:spcAft>
              <a:defRPr sz="900">
                <a:solidFill>
                  <a:srgbClr val="2D2D2D"/>
                </a:solidFill>
                <a:latin typeface="Consolas"/>
              </a:defRPr>
            </a:pPr>
          </a:p>
          <a:p>
            <a:pPr>
              <a:lnSpc>
                <a:spcPts val="1350"/>
              </a:lnSpc>
              <a:spcAft>
                <a:spcPts val="200"/>
              </a:spcAft>
              <a:defRPr sz="900">
                <a:solidFill>
                  <a:srgbClr val="2D2D2D"/>
                </a:solidFill>
                <a:latin typeface="Consolas"/>
              </a:defRPr>
            </a:pPr>
            <a:r>
              <a:t>• AdminController 统一前缀 /api/admin</a:t>
            </a:r>
          </a:p>
          <a:p>
            <a:pPr>
              <a:lnSpc>
                <a:spcPts val="1350"/>
              </a:lnSpc>
              <a:spcAft>
                <a:spcPts val="200"/>
              </a:spcAft>
              <a:defRPr sz="900">
                <a:solidFill>
                  <a:srgbClr val="2D2D2D"/>
                </a:solidFill>
                <a:latin typeface="Consolas"/>
              </a:defRPr>
            </a:pPr>
            <a:r>
              <a:t>• 每个方法添加 @AdminRequired 或</a:t>
            </a:r>
          </a:p>
          <a:p>
            <a:pPr>
              <a:lnSpc>
                <a:spcPts val="1350"/>
              </a:lnSpc>
              <a:spcAft>
                <a:spcPts val="200"/>
              </a:spcAft>
              <a:defRPr sz="900">
                <a:solidFill>
                  <a:srgbClr val="2D2D2D"/>
                </a:solidFill>
                <a:latin typeface="Consolas"/>
              </a:defRPr>
            </a:pPr>
            <a:r>
              <a:t>  手动校验 UserContext.getRole()</a:t>
            </a:r>
          </a:p>
          <a:p>
            <a:pPr>
              <a:lnSpc>
                <a:spcPts val="1350"/>
              </a:lnSpc>
              <a:spcAft>
                <a:spcPts val="200"/>
              </a:spcAft>
              <a:defRPr sz="900">
                <a:solidFill>
                  <a:srgbClr val="2D2D2D"/>
                </a:solidFill>
                <a:latin typeface="Consolas"/>
              </a:defRPr>
            </a:pPr>
            <a:r>
              <a:t>• 用户管理：更新 status 字段</a:t>
            </a:r>
          </a:p>
          <a:p>
            <a:pPr>
              <a:lnSpc>
                <a:spcPts val="1350"/>
              </a:lnSpc>
              <a:spcAft>
                <a:spcPts val="200"/>
              </a:spcAft>
              <a:defRPr sz="900">
                <a:solidFill>
                  <a:srgbClr val="2D2D2D"/>
                </a:solidFill>
                <a:latin typeface="Consolas"/>
              </a:defRPr>
            </a:pPr>
            <a:r>
              <a:t>• 菜谱管理：更新 status 字段</a:t>
            </a:r>
          </a:p>
          <a:p>
            <a:pPr>
              <a:lnSpc>
                <a:spcPts val="1350"/>
              </a:lnSpc>
              <a:spcAft>
                <a:spcPts val="200"/>
              </a:spcAft>
              <a:defRPr sz="900">
                <a:solidFill>
                  <a:srgbClr val="2D2D2D"/>
                </a:solidFill>
                <a:latin typeface="Consolas"/>
              </a:defRPr>
            </a:pPr>
            <a:r>
              <a:t>• 分类管理：CRUD + 关联校验</a:t>
            </a:r>
          </a:p>
          <a:p>
            <a:pPr>
              <a:lnSpc>
                <a:spcPts val="1350"/>
              </a:lnSpc>
              <a:spcAft>
                <a:spcPts val="200"/>
              </a:spcAft>
              <a:defRPr sz="900">
                <a:solidFill>
                  <a:srgbClr val="2D2D2D"/>
                </a:solidFill>
                <a:latin typeface="Consolas"/>
              </a:defRPr>
            </a:pPr>
            <a:r>
              <a:t>• 评论管理：删除接口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36576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274320"/>
            <a:ext cx="1645920" cy="320040"/>
          </a:xfrm>
          <a:prstGeom prst="round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1000" b="1">
                <a:solidFill>
                  <a:srgbClr val="FFFFFF"/>
                </a:solidFill>
                <a:latin typeface="Microsoft YaHei"/>
              </a:defRPr>
            </a:pPr>
            <a:r>
              <a:t>05 系统实现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3152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860"/>
              </a:lnSpc>
              <a:spcAft>
                <a:spcPts val="200"/>
              </a:spcAft>
              <a:defRPr sz="2200" b="1">
                <a:solidFill>
                  <a:srgbClr val="2D2D2D"/>
                </a:solidFill>
                <a:latin typeface="Microsoft YaHei"/>
              </a:defRPr>
            </a:pPr>
            <a:r>
              <a:t>5.3 后端实现技术要点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9728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0"/>
              </a:lnSpc>
              <a:spcAft>
                <a:spcPts val="200"/>
              </a:spcAft>
              <a:defRPr sz="1100" b="0">
                <a:solidFill>
                  <a:srgbClr val="666666"/>
                </a:solidFill>
                <a:latin typeface="Microsoft YaHei"/>
              </a:defRPr>
            </a:pPr>
            <a:r>
              <a:t>统一响应、异常处理、认证拦截、事务管理、数据初始化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17320"/>
            <a:ext cx="10972800" cy="9144"/>
          </a:xfrm>
          <a:prstGeom prst="rect">
            <a:avLst/>
          </a:prstGeom>
          <a:solidFill>
            <a:srgbClr val="E8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40"/>
              </a:lnSpc>
              <a:spcAft>
                <a:spcPts val="200"/>
              </a:spcAft>
              <a:defRPr sz="800" b="0">
                <a:solidFill>
                  <a:srgbClr val="999999"/>
                </a:solidFill>
                <a:latin typeface="Microsoft YaHei"/>
              </a:defRPr>
            </a:pPr>
            <a:r>
              <a:t>23/27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645920"/>
          <a:ext cx="109728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3200400"/>
                <a:gridCol w="2743200"/>
                <a:gridCol w="3657600"/>
              </a:tblGrid>
              <a:tr h="50800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实现要点</a:t>
                      </a:r>
                    </a:p>
                  </a:txBody>
                  <a:tcPr>
                    <a:solidFill>
                      <a:srgbClr val="FF6B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技术方案</a:t>
                      </a:r>
                    </a:p>
                  </a:txBody>
                  <a:tcPr>
                    <a:solidFill>
                      <a:srgbClr val="FF6B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代码位置</a:t>
                      </a:r>
                    </a:p>
                  </a:txBody>
                  <a:tcPr>
                    <a:solidFill>
                      <a:srgbClr val="FF6B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说明</a:t>
                      </a:r>
                    </a:p>
                  </a:txBody>
                  <a:tcPr>
                    <a:solidFill>
                      <a:srgbClr val="FF6B35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统一响应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Result&lt;T&gt; 泛型类</a:t>
                      </a:r>
                    </a:p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code + msg + data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common/Result.java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所有接口统一返回格式，前端只需判断 code 是否为 200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统一异常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BusinessException</a:t>
                      </a:r>
                    </a:p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GlobalExceptionHandler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exception/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@ControllerAdvice 全局捕获，业务错误转为明确提示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认证拦截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AuthInterceptor</a:t>
                      </a:r>
                    </a:p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JwtUtil + UserContext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interceptor/</a:t>
                      </a:r>
                    </a:p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util/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preHandle 解析 JWT → 查询用户 → 校验状态 → 写入 ThreadLocal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分页查询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PaginationInnerInterceptor</a:t>
                      </a:r>
                    </a:p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MyBatis-Plus Page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config/MybatisPlusConfig.java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自动分页拦截，Page 对象传入 Service 层自动拼接 LIMIT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菜谱事务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@Transactional</a:t>
                      </a:r>
                    </a:p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create/update 方法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service/impl/RecipeServiceImpl.java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主表 + 食材子表 + 步骤子表在同一事务中写入，保证原子性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互动计数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收藏/评论变更后刷新</a:t>
                      </a:r>
                    </a:p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like_count/comment_count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service/impl/FavoriteServiceImpl.java</a:t>
                      </a:r>
                    </a:p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CommentServiceImpl.java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冗余统计字段，避免频繁 JOIN 查询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初始化数据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CommandLineRunner</a:t>
                      </a:r>
                    </a:p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DataInitializer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config/DataInitializer.java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启动时检查并初始化 admin 账号和默认分类，补齐统计字段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逻辑删除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@TableLogic</a:t>
                      </a:r>
                    </a:p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MyBatis-Plus 逻辑删除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entity/Recipe.java 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deleted 字段标记删除，数据可恢复，查询自动过滤已删除记录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2286000"/>
            <a:ext cx="73152" cy="1645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28600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5460"/>
              </a:lnSpc>
              <a:spcAft>
                <a:spcPts val="200"/>
              </a:spcAft>
              <a:defRPr sz="4200" b="1">
                <a:solidFill>
                  <a:srgbClr val="FF6B35"/>
                </a:solidFill>
                <a:latin typeface="Microsoft YaHei"/>
              </a:defRPr>
            </a:pPr>
            <a: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88036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160"/>
              </a:lnSpc>
              <a:spcAft>
                <a:spcPts val="200"/>
              </a:spcAft>
              <a:defRPr sz="3200" b="1">
                <a:solidFill>
                  <a:srgbClr val="FFFFFF"/>
                </a:solidFill>
                <a:latin typeface="Microsoft YaHei"/>
              </a:defRPr>
            </a:pPr>
            <a:r>
              <a:t>系统测试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6118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20"/>
              </a:lnSpc>
              <a:spcAft>
                <a:spcPts val="200"/>
              </a:spcAft>
              <a:defRPr sz="1400" b="0">
                <a:solidFill>
                  <a:srgbClr val="999999"/>
                </a:solidFill>
                <a:latin typeface="Microsoft YaHei"/>
              </a:defRPr>
            </a:pPr>
            <a:r>
              <a:t>测试环境、测试策略与功能测试结果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5029200"/>
            <a:ext cx="9601200" cy="13716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212080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170"/>
              </a:lnSpc>
              <a:spcAft>
                <a:spcPts val="200"/>
              </a:spcAft>
              <a:defRPr sz="900" b="0">
                <a:solidFill>
                  <a:srgbClr val="999999"/>
                </a:solidFill>
                <a:latin typeface="Microsoft YaHei"/>
              </a:defRPr>
            </a:pPr>
            <a:r>
              <a:t>基于 Vue + Spring Boot + MySQL 的菜谱分享与管理系统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40"/>
              </a:lnSpc>
              <a:spcAft>
                <a:spcPts val="200"/>
              </a:spcAft>
              <a:defRPr sz="800" b="0">
                <a:solidFill>
                  <a:srgbClr val="999999"/>
                </a:solidFill>
                <a:latin typeface="Microsoft YaHei"/>
              </a:defRPr>
            </a:pPr>
            <a:r>
              <a:t>24/27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36576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274320"/>
            <a:ext cx="1645920" cy="320040"/>
          </a:xfrm>
          <a:prstGeom prst="round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1000" b="1">
                <a:solidFill>
                  <a:srgbClr val="FFFFFF"/>
                </a:solidFill>
                <a:latin typeface="Microsoft YaHei"/>
              </a:defRPr>
            </a:pPr>
            <a:r>
              <a:t>06 系统测试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3152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860"/>
              </a:lnSpc>
              <a:spcAft>
                <a:spcPts val="200"/>
              </a:spcAft>
              <a:defRPr sz="2200" b="1">
                <a:solidFill>
                  <a:srgbClr val="2D2D2D"/>
                </a:solidFill>
                <a:latin typeface="Microsoft YaHei"/>
              </a:defRPr>
            </a:pPr>
            <a:r>
              <a:t>6.1 测试环境与功能测试结果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9728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0"/>
              </a:lnSpc>
              <a:spcAft>
                <a:spcPts val="200"/>
              </a:spcAft>
              <a:defRPr sz="1100" b="0">
                <a:solidFill>
                  <a:srgbClr val="666666"/>
                </a:solidFill>
                <a:latin typeface="Microsoft YaHei"/>
              </a:defRPr>
            </a:pPr>
            <a:r>
              <a:t>覆盖页面交互、后端接口、数据库写入和权限边界的完整测试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17320"/>
            <a:ext cx="10972800" cy="9144"/>
          </a:xfrm>
          <a:prstGeom prst="rect">
            <a:avLst/>
          </a:prstGeom>
          <a:solidFill>
            <a:srgbClr val="E8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40"/>
              </a:lnSpc>
              <a:spcAft>
                <a:spcPts val="200"/>
              </a:spcAft>
              <a:defRPr sz="800" b="0">
                <a:solidFill>
                  <a:srgbClr val="999999"/>
                </a:solidFill>
                <a:latin typeface="Microsoft YaHei"/>
              </a:defRPr>
            </a:pPr>
            <a:r>
              <a:t>25/27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645920"/>
          <a:ext cx="54864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2286000"/>
                <a:gridCol w="1828800"/>
              </a:tblGrid>
              <a:tr h="38100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测试类别</a:t>
                      </a:r>
                    </a:p>
                  </a:txBody>
                  <a:tcPr>
                    <a:solidFill>
                      <a:srgbClr val="FF6B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环境/工具</a:t>
                      </a:r>
                    </a:p>
                  </a:txBody>
                  <a:tcPr>
                    <a:solidFill>
                      <a:srgbClr val="FF6B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测试重点</a:t>
                      </a:r>
                    </a:p>
                  </a:txBody>
                  <a:tcPr>
                    <a:solidFill>
                      <a:srgbClr val="FF6B35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操作系统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Windows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本地开发、运行与演示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前端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Node.js、Vite、Vue 3、Element Plus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页面跳转、表单交互、状态提示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后端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JDK 17、Spring Boot 3.3.7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REST 接口、JWT 拦截、业务逻辑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数据库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MySQL 8.4、DBeaver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表结构、外键关系、写入结果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接口工具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Postman / Apifox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登录、发布、收藏、评论、后台接口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4114800"/>
          <a:ext cx="91440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3200400"/>
                <a:gridCol w="3200400"/>
                <a:gridCol w="1371600"/>
              </a:tblGrid>
              <a:tr h="25400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测试项</a:t>
                      </a:r>
                    </a:p>
                  </a:txBody>
                  <a:tcPr>
                    <a:solidFill>
                      <a:srgbClr val="FF6B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测试操作</a:t>
                      </a:r>
                    </a:p>
                  </a:txBody>
                  <a:tcPr>
                    <a:solidFill>
                      <a:srgbClr val="FF6B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预期结果</a:t>
                      </a:r>
                    </a:p>
                  </a:txBody>
                  <a:tcPr>
                    <a:solidFill>
                      <a:srgbClr val="FF6B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结论</a:t>
                      </a:r>
                    </a:p>
                  </a:txBody>
                  <a:tcPr>
                    <a:solidFill>
                      <a:srgbClr val="FF6B35"/>
                    </a:solidFill>
                  </a:tcPr>
                </a:tc>
              </a:tr>
              <a:tr h="25400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注册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填写用户名、密码、昵称提交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账号创建成功，可进入登录流程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✅ 通过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</a:tr>
              <a:tr h="25400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登录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输入正确账号密码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返回 JWT token 和用户信息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✅ 通过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400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菜谱浏览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首页、列表、分类筛选、关键词搜索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返回匹配菜谱并正常分页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✅ 通过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</a:tr>
              <a:tr h="25400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发布菜谱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填写分类、标题、食材、步骤后提交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生成菜谱并可进入详情页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✅ 通过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400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收藏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登录后收藏/取消收藏菜谱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收藏状态和 favorite_count 更新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✅ 通过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</a:tr>
              <a:tr h="25400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评论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登录后发表评论并刷新详情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评论写入并显示在评论列表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✅ 通过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400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冰箱寻菜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选择已有食材后搜索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按匹配度展示可做菜谱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✅ 通过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</a:tr>
              <a:tr h="25400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后台管理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管理员启停用户、上下架菜谱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管理操作生效，非管理员被拦截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✅ 通过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36576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274320"/>
            <a:ext cx="1645920" cy="320040"/>
          </a:xfrm>
          <a:prstGeom prst="round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  <a:defRPr sz="1000" b="1">
                <a:solidFill>
                  <a:srgbClr val="FFFFFF"/>
                </a:solidFill>
                <a:latin typeface="Microsoft YaHei"/>
              </a:defRPr>
            </a:pPr>
            <a:r>
              <a:t>总结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9728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0"/>
              </a:lnSpc>
              <a:spcAft>
                <a:spcPts val="200"/>
              </a:spcAft>
              <a:defRPr sz="1100" b="0">
                <a:solidFill>
                  <a:srgbClr val="666666"/>
                </a:solidFill>
                <a:latin typeface="Microsoft YaHei"/>
              </a:defRPr>
            </a:pPr>
            <a:r>
              <a:t>项目收获 + 后续优化方向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17320"/>
            <a:ext cx="10972800" cy="9144"/>
          </a:xfrm>
          <a:prstGeom prst="rect">
            <a:avLst/>
          </a:prstGeom>
          <a:solidFill>
            <a:srgbClr val="E8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40"/>
              </a:lnSpc>
              <a:spcAft>
                <a:spcPts val="200"/>
              </a:spcAft>
              <a:defRPr sz="800" b="0">
                <a:solidFill>
                  <a:srgbClr val="999999"/>
                </a:solidFill>
                <a:latin typeface="Microsoft YaHei"/>
              </a:defRPr>
            </a:pPr>
            <a:r>
              <a:t>27/27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645920"/>
          <a:ext cx="64008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286000"/>
                <a:gridCol w="2286000"/>
              </a:tblGrid>
              <a:tr h="512064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工具</a:t>
                      </a:r>
                    </a:p>
                  </a:txBody>
                  <a:tcPr>
                    <a:solidFill>
                      <a:srgbClr val="FF6B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使用场景</a:t>
                      </a:r>
                    </a:p>
                  </a:txBody>
                  <a:tcPr>
                    <a:solidFill>
                      <a:srgbClr val="FF6B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具体帮助</a:t>
                      </a:r>
                    </a:p>
                  </a:txBody>
                  <a:tcPr>
                    <a:solidFill>
                      <a:srgbClr val="FF6B35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ChatGPT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需求分析、数据库设计、SQL 学习、文档生成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形成结构化思路，辅助解释技术点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Google Stitch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前端页面灵感设计、UI 风格参考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帮助确定温暖美食社区视觉方向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GitHub Copilot / Cursor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代码补全、组件生成、Bug 排查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提升样板代码和重复逻辑编写效率</a:t>
                      </a:r>
                    </a:p>
                  </a:txBody>
                  <a:tcPr>
                    <a:solidFill>
                      <a:srgbClr val="FFF0E5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DBeaver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数据库管理与 SQL 测试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D2D2D"/>
                          </a:solidFill>
                          <a:latin typeface="Microsoft YaHei"/>
                        </a:defRPr>
                      </a:pPr>
                      <a:r>
                        <a:t>查看表结构、验证数据写入与关联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7132320" y="1645920"/>
            <a:ext cx="4572000" cy="2560320"/>
          </a:xfrm>
          <a:prstGeom prst="roundRect">
            <a:avLst/>
          </a:prstGeom>
          <a:solidFill>
            <a:srgbClr val="FFF0E5"/>
          </a:solidFill>
          <a:ln w="12700">
            <a:solidFill>
              <a:srgbClr val="E8E0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0" y="1828800"/>
            <a:ext cx="411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00"/>
              </a:lnSpc>
              <a:spcAft>
                <a:spcPts val="200"/>
              </a:spcAft>
              <a:defRPr sz="1300" b="1">
                <a:solidFill>
                  <a:srgbClr val="FF6B35"/>
                </a:solidFill>
                <a:latin typeface="Microsoft YaHei"/>
              </a:defRPr>
            </a:pPr>
            <a:r>
              <a:t>▎项目总结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Microsoft YaHei"/>
              </a:defRPr>
            </a:pP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Microsoft YaHei"/>
              </a:defRPr>
            </a:pPr>
            <a:r>
              <a:t>完成了一个覆盖内容分享、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Microsoft YaHei"/>
              </a:defRPr>
            </a:pPr>
            <a:r>
              <a:t>互动和后台治理的前后端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Microsoft YaHei"/>
              </a:defRPr>
            </a:pPr>
            <a:r>
              <a:t>分离课程项目。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Microsoft YaHei"/>
              </a:defRPr>
            </a:pP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Microsoft YaHei"/>
              </a:defRPr>
            </a:pPr>
            <a:r>
              <a:t>• 实现菜谱分享与管理主流程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Microsoft YaHei"/>
              </a:defRPr>
            </a:pPr>
            <a:r>
              <a:t>• Vue + Spring Boot + MySQL 联调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Microsoft YaHei"/>
              </a:defRPr>
            </a:pPr>
            <a:r>
              <a:t>• 覆盖用户端、后台端和测试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Microsoft YaHei"/>
              </a:defRPr>
            </a:pPr>
            <a:r>
              <a:t>• 100 道种子数据完整展示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Microsoft YaHei"/>
              </a:defRPr>
            </a:pPr>
            <a:r>
              <a:t>• 冰箱寻菜智能匹配特色功能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0" y="4389120"/>
            <a:ext cx="4572000" cy="1828800"/>
          </a:xfrm>
          <a:prstGeom prst="roundRect">
            <a:avLst/>
          </a:prstGeom>
          <a:solidFill>
            <a:srgbClr val="FFF0E5"/>
          </a:solidFill>
          <a:ln w="12700">
            <a:solidFill>
              <a:srgbClr val="E8E0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06640" y="4572000"/>
            <a:ext cx="4114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00"/>
              </a:lnSpc>
              <a:spcAft>
                <a:spcPts val="200"/>
              </a:spcAft>
              <a:defRPr sz="1300" b="1">
                <a:solidFill>
                  <a:srgbClr val="FF6B35"/>
                </a:solidFill>
                <a:latin typeface="Microsoft YaHei"/>
              </a:defRPr>
            </a:pPr>
            <a:r>
              <a:t>▎收获与后续优化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Microsoft YaHei"/>
              </a:defRPr>
            </a:pPr>
            <a:r>
              <a:t>• 掌握前后端分离开发流程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Microsoft YaHei"/>
              </a:defRPr>
            </a:pPr>
            <a:r>
              <a:t>• 理解关系建模和接口设计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Microsoft YaHei"/>
              </a:defRPr>
            </a:pP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Microsoft YaHei"/>
              </a:defRPr>
            </a:pPr>
            <a:r>
              <a:t>后续：图片上传与裁剪 / AI 菜谱推荐</a:t>
            </a:r>
          </a:p>
          <a:p>
            <a:pPr>
              <a:lnSpc>
                <a:spcPts val="1500"/>
              </a:lnSpc>
              <a:spcAft>
                <a:spcPts val="200"/>
              </a:spcAft>
              <a:defRPr sz="1000">
                <a:solidFill>
                  <a:srgbClr val="2D2D2D"/>
                </a:solidFill>
                <a:latin typeface="Microsoft YaHei"/>
              </a:defRPr>
            </a:pPr>
            <a:r>
              <a:t>移动端适配 / 营养分析 / 部署上线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603504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340"/>
              </a:lnSpc>
              <a:spcAft>
                <a:spcPts val="200"/>
              </a:spcAft>
              <a:defRPr sz="1800" b="1">
                <a:solidFill>
                  <a:srgbClr val="FF6B35"/>
                </a:solidFill>
                <a:latin typeface="Microsoft YaHei"/>
              </a:defRPr>
            </a:pPr>
            <a:r>
              <a:t>感谢聆听！欢迎提问与交流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